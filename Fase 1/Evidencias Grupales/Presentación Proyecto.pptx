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9" roundtripDataSignature="AMtx7mjJcngd7sXPErL8GQoYOiWWZ/u7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23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19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1" y="2323238"/>
            <a:ext cx="12192000" cy="2277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ctr">
              <a:spcBef>
                <a:spcPts val="400"/>
              </a:spcBef>
              <a:spcAft>
                <a:spcPts val="800"/>
              </a:spcAft>
            </a:pPr>
            <a:r>
              <a:rPr lang="es-CL" sz="4400" b="1" noProof="0" dirty="0">
                <a:solidFill>
                  <a:srgbClr val="23232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“SISTEMA PREDICTIVO Y DE PLANIFICACIÓN LOGÍSTICA PARA LA DISTRIBUCIÓN DOMICILIARIA DE OXÍGENO MEDICINAL”</a:t>
            </a:r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2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"/>
          <p:cNvSpPr txBox="1"/>
          <p:nvPr/>
        </p:nvSpPr>
        <p:spPr>
          <a:xfrm>
            <a:off x="136188" y="415096"/>
            <a:ext cx="1219199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152" rIns="73152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b="1" noProof="0" dirty="0">
                <a:solidFill>
                  <a:srgbClr val="6E6E6E"/>
                </a:solidFill>
                <a:latin typeface="Calibri"/>
              </a:rPr>
              <a:t>PROYECTO “SISTEMA PREDICTIVO Y DE PLANIFICACIÓN LOGÍSTICA PARA LA DISTRIBUCIÓN DOMICILIARIA DE OXÍGENO MEDICINAL”</a:t>
            </a:r>
            <a:endParaRPr lang="es-CL" sz="3200" b="1" noProof="0" dirty="0"/>
          </a:p>
        </p:txBody>
      </p:sp>
      <p:sp>
        <p:nvSpPr>
          <p:cNvPr id="102" name="Google Shape;102;p2"/>
          <p:cNvSpPr txBox="1"/>
          <p:nvPr/>
        </p:nvSpPr>
        <p:spPr>
          <a:xfrm>
            <a:off x="238327" y="3058616"/>
            <a:ext cx="3608961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lang="es-CL" sz="1800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" name="Google Shape;103;p2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04" name="Rounded Rectangle 103"/>
          <p:cNvSpPr/>
          <p:nvPr/>
        </p:nvSpPr>
        <p:spPr>
          <a:xfrm>
            <a:off x="4160520" y="2240280"/>
            <a:ext cx="6995160" cy="2331720"/>
          </a:xfrm>
          <a:prstGeom prst="roundRect">
            <a:avLst/>
          </a:prstGeom>
          <a:solidFill>
            <a:srgbClr val="437EBE"/>
          </a:solidFill>
          <a:ln w="15240">
            <a:solidFill>
              <a:srgbClr val="1C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05" name="Rounded Rectangle 104"/>
          <p:cNvSpPr/>
          <p:nvPr/>
        </p:nvSpPr>
        <p:spPr>
          <a:xfrm>
            <a:off x="4370832" y="2665713"/>
            <a:ext cx="1234440" cy="1325880"/>
          </a:xfrm>
          <a:prstGeom prst="round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3970">
            <a:solidFill>
              <a:srgbClr val="1C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endParaRPr lang="es-CL" sz="2200" b="1" noProof="0" dirty="0">
              <a:solidFill>
                <a:srgbClr val="1C3052"/>
              </a:solidFill>
              <a:latin typeface="Calibri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5815584" y="2496312"/>
            <a:ext cx="4983480" cy="149528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lang="es-CL" sz="2400" b="1" noProof="0" dirty="0">
                <a:solidFill>
                  <a:srgbClr val="FFFFFF"/>
                </a:solidFill>
                <a:latin typeface="Calibri"/>
              </a:rPr>
              <a:t>Luis Miguel Trujillo Palacios</a:t>
            </a:r>
          </a:p>
          <a:p>
            <a:pPr>
              <a:spcAft>
                <a:spcPts val="500"/>
              </a:spcAft>
            </a:pPr>
            <a:r>
              <a:rPr lang="es-CL" sz="1600" b="1" noProof="0" dirty="0">
                <a:solidFill>
                  <a:srgbClr val="FFFFFF"/>
                </a:solidFill>
                <a:latin typeface="Calibri"/>
              </a:rPr>
              <a:t>Cargo: Responsable del Proyecto APT</a:t>
            </a:r>
          </a:p>
          <a:p>
            <a:r>
              <a:rPr lang="es-CL" noProof="0" dirty="0">
                <a:solidFill>
                  <a:srgbClr val="FFFFFF"/>
                </a:solidFill>
                <a:latin typeface="Calibri"/>
              </a:rPr>
              <a:t>Funciones: análisis de requerimientos, preparación de datos, desarrollo del componente predictivo, aplicación web, integración, pruebas y documentación</a:t>
            </a:r>
            <a:r>
              <a:rPr lang="es-CL" sz="1150" noProof="0" dirty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3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3"/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 DEL PROYECTO</a:t>
            </a:r>
            <a:endParaRPr lang="es-CL" sz="1800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1" name="Google Shape;111;p3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12" name="Google Shape;112;p3"/>
          <p:cNvSpPr/>
          <p:nvPr/>
        </p:nvSpPr>
        <p:spPr>
          <a:xfrm>
            <a:off x="714909" y="2169769"/>
            <a:ext cx="4348705" cy="4092601"/>
          </a:xfrm>
          <a:prstGeom prst="roundRect">
            <a:avLst>
              <a:gd name="adj" fmla="val 10901"/>
            </a:avLst>
          </a:prstGeom>
          <a:solidFill>
            <a:srgbClr val="FDF2DC"/>
          </a:solidFill>
          <a:ln w="12700" cap="flat" cmpd="sng">
            <a:solidFill>
              <a:srgbClr val="F29D23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182880" tIns="137160" rIns="182880" bIns="109728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s-CL" sz="2800" b="1" u="sng" noProof="0" dirty="0">
                <a:solidFill>
                  <a:srgbClr val="1C305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Problema o dolor</a:t>
            </a:r>
          </a:p>
          <a:p>
            <a:pPr marL="0" marR="0" lvl="0" indent="0" algn="ctr" rtl="0">
              <a:spcBef>
                <a:spcPts val="0"/>
              </a:spcBef>
              <a:spcAft>
                <a:spcPts val="800"/>
              </a:spcAft>
              <a:buNone/>
            </a:pPr>
            <a:endParaRPr lang="es-CL" sz="2800" u="sng" noProof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spcAft>
                <a:spcPts val="500"/>
              </a:spcAft>
            </a:pPr>
            <a:r>
              <a:rPr lang="es-CL" sz="1600" b="1" noProof="0" dirty="0">
                <a:solidFill>
                  <a:srgbClr val="555555"/>
                </a:solidFill>
                <a:latin typeface="Calibri"/>
              </a:rPr>
              <a:t>• La demanda de oxígeno y la frecuencia de solicitudes varían significativamente entre pacientes.</a:t>
            </a:r>
          </a:p>
          <a:p>
            <a:pPr algn="l">
              <a:spcAft>
                <a:spcPts val="500"/>
              </a:spcAft>
            </a:pPr>
            <a:r>
              <a:rPr lang="es-CL" sz="1600" b="1" noProof="0" dirty="0">
                <a:solidFill>
                  <a:srgbClr val="555555"/>
                </a:solidFill>
                <a:latin typeface="Calibri"/>
              </a:rPr>
              <a:t>• La incertidumbre dificulta anticipar entregas, asignar cilindros y organizar rutas.</a:t>
            </a:r>
          </a:p>
          <a:p>
            <a:pPr algn="l">
              <a:spcAft>
                <a:spcPts val="500"/>
              </a:spcAft>
            </a:pPr>
            <a:r>
              <a:rPr lang="es-CL" sz="1600" b="1" noProof="0" dirty="0">
                <a:solidFill>
                  <a:srgbClr val="555555"/>
                </a:solidFill>
                <a:latin typeface="Calibri"/>
              </a:rPr>
              <a:t>• La disponibilidad y calidad de los datos condicionan la capacidad de predicción.</a:t>
            </a:r>
          </a:p>
        </p:txBody>
      </p:sp>
      <p:sp>
        <p:nvSpPr>
          <p:cNvPr id="113" name="Google Shape;113;p3"/>
          <p:cNvSpPr/>
          <p:nvPr/>
        </p:nvSpPr>
        <p:spPr>
          <a:xfrm>
            <a:off x="6912079" y="2177325"/>
            <a:ext cx="4348705" cy="4092601"/>
          </a:xfrm>
          <a:prstGeom prst="roundRect">
            <a:avLst>
              <a:gd name="adj" fmla="val 10901"/>
            </a:avLst>
          </a:prstGeom>
          <a:solidFill>
            <a:srgbClr val="E7F0F9"/>
          </a:solidFill>
          <a:ln w="12700" cap="flat" cmpd="sng">
            <a:solidFill>
              <a:srgbClr val="437EBE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182880" tIns="137160" rIns="182880" bIns="109728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s-CL" sz="2800" b="1" u="sng" noProof="0" dirty="0">
                <a:solidFill>
                  <a:srgbClr val="1C305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Propuesta de solución</a:t>
            </a:r>
            <a:endParaRPr lang="es-CL" sz="2800" u="sng" noProof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spcAft>
                <a:spcPts val="500"/>
              </a:spcAft>
            </a:pPr>
            <a:r>
              <a:rPr lang="es-CL" sz="1600" b="1" noProof="0" dirty="0">
                <a:solidFill>
                  <a:srgbClr val="555555"/>
                </a:solidFill>
                <a:latin typeface="Calibri"/>
              </a:rPr>
              <a:t>• Estimar cuándo podría ocurrir la próxima solicitud y cuántos cilindros podría requerirse.</a:t>
            </a:r>
          </a:p>
          <a:p>
            <a:pPr algn="l">
              <a:spcAft>
                <a:spcPts val="500"/>
              </a:spcAft>
            </a:pPr>
            <a:r>
              <a:rPr lang="es-CL" sz="1600" b="1" noProof="0" dirty="0">
                <a:solidFill>
                  <a:srgbClr val="555555"/>
                </a:solidFill>
                <a:latin typeface="Calibri"/>
              </a:rPr>
              <a:t>• Usar un enfoque adaptativo para pacientes nuevos y pacientes con historial de consumo.</a:t>
            </a:r>
          </a:p>
          <a:p>
            <a:pPr algn="l">
              <a:spcAft>
                <a:spcPts val="500"/>
              </a:spcAft>
            </a:pPr>
            <a:r>
              <a:rPr lang="es-CL" sz="1600" b="1" noProof="0" dirty="0">
                <a:solidFill>
                  <a:srgbClr val="555555"/>
                </a:solidFill>
                <a:latin typeface="Calibri"/>
              </a:rPr>
              <a:t>• Integrar una intranet para seleccionar pacientes, planificar y trazar rutas y sugerir la carga de cilindros.</a:t>
            </a:r>
          </a:p>
          <a:p>
            <a:pPr algn="l">
              <a:spcAft>
                <a:spcPts val="500"/>
              </a:spcAft>
            </a:pPr>
            <a:r>
              <a:rPr lang="es-CL" sz="1600" b="1" noProof="0" dirty="0">
                <a:solidFill>
                  <a:srgbClr val="555555"/>
                </a:solidFill>
                <a:latin typeface="Calibri"/>
              </a:rPr>
              <a:t>• Considerar minimización, control de acceso, confidencialidad y seguridad de los datos.</a:t>
            </a:r>
          </a:p>
        </p:txBody>
      </p:sp>
      <p:sp>
        <p:nvSpPr>
          <p:cNvPr id="114" name="Google Shape;114;p3"/>
          <p:cNvSpPr/>
          <p:nvPr/>
        </p:nvSpPr>
        <p:spPr>
          <a:xfrm>
            <a:off x="5456903" y="3736258"/>
            <a:ext cx="1140542" cy="75708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37EBE"/>
          </a:solidFill>
          <a:ln w="12700" cap="flat" cmpd="sng">
            <a:solidFill>
              <a:srgbClr val="1C305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Rounded Rectangle 114"/>
          <p:cNvSpPr/>
          <p:nvPr/>
        </p:nvSpPr>
        <p:spPr>
          <a:xfrm>
            <a:off x="1965960" y="6336792"/>
            <a:ext cx="8275320" cy="347472"/>
          </a:xfrm>
          <a:prstGeom prst="roundRect">
            <a:avLst/>
          </a:prstGeom>
          <a:solidFill>
            <a:srgbClr val="F5F7F9"/>
          </a:solidFill>
          <a:ln w="15240"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lang="es-CL" sz="1600" b="1" noProof="0" dirty="0">
                <a:solidFill>
                  <a:srgbClr val="1C3052"/>
                </a:solidFill>
                <a:latin typeface="Calibri"/>
              </a:rPr>
              <a:t>Aporte esperado: anticipar la demanda y apoyar una planificación logística más eficiente.</a:t>
            </a:r>
          </a:p>
        </p:txBody>
      </p:sp>
      <p:sp>
        <p:nvSpPr>
          <p:cNvPr id="3" name="Google Shape;101;p2">
            <a:extLst>
              <a:ext uri="{FF2B5EF4-FFF2-40B4-BE49-F238E27FC236}">
                <a16:creationId xmlns:a16="http://schemas.microsoft.com/office/drawing/2014/main" id="{D2A29A5E-C817-8D79-2287-5DB496AD9C09}"/>
              </a:ext>
            </a:extLst>
          </p:cNvPr>
          <p:cNvSpPr txBox="1"/>
          <p:nvPr/>
        </p:nvSpPr>
        <p:spPr>
          <a:xfrm>
            <a:off x="136188" y="415096"/>
            <a:ext cx="1219199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152" rIns="73152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b="1" noProof="0" dirty="0">
                <a:solidFill>
                  <a:srgbClr val="6E6E6E"/>
                </a:solidFill>
                <a:latin typeface="Calibri"/>
              </a:rPr>
              <a:t>PROYECTO “SISTEMA PREDICTIVO Y DE PLANIFICACIÓN LOGÍSTICA PARA LA DISTRIBUCIÓN DOMICILIARIA DE OXÍGENO MEDICINAL”</a:t>
            </a:r>
            <a:endParaRPr lang="es-CL" sz="3200" b="1" noProof="0" dirty="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4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4"/>
          <p:cNvSpPr txBox="1"/>
          <p:nvPr/>
        </p:nvSpPr>
        <p:spPr>
          <a:xfrm>
            <a:off x="136187" y="1200448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lang="es-CL" sz="1800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2" name="Google Shape;122;p4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23" name="Google Shape;123;p4"/>
          <p:cNvSpPr txBox="1"/>
          <p:nvPr/>
        </p:nvSpPr>
        <p:spPr>
          <a:xfrm>
            <a:off x="1" y="3625728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lang="es-CL" sz="1800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750702" y="1856715"/>
            <a:ext cx="10962967" cy="1575221"/>
          </a:xfrm>
          <a:prstGeom prst="roundRect">
            <a:avLst>
              <a:gd name="adj" fmla="val 16667"/>
            </a:avLst>
          </a:prstGeom>
          <a:solidFill>
            <a:srgbClr val="E7F0F9"/>
          </a:solidFill>
          <a:ln w="12700" cap="flat" cmpd="sng">
            <a:solidFill>
              <a:srgbClr val="437EBE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73152" rIns="73152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 dirty="0">
                <a:solidFill>
                  <a:srgbClr val="555555"/>
                </a:solidFill>
                <a:latin typeface="Calibri"/>
              </a:rPr>
              <a:t>Diseñar, desarrollar y validar un sistema web para intranet que estime la demanda logística de oxígeno medicinal domiciliario por paciente y apoye la planificación de rutas y la determinación de la cantidad de cilindros a cargar, utilizando análisis de datos y machine </a:t>
            </a:r>
            <a:r>
              <a:rPr lang="es-CL" sz="1800" b="1" noProof="0" dirty="0" err="1">
                <a:solidFill>
                  <a:srgbClr val="555555"/>
                </a:solidFill>
                <a:latin typeface="Calibri"/>
              </a:rPr>
              <a:t>learning</a:t>
            </a:r>
            <a:r>
              <a:rPr lang="es-CL" sz="1800" b="1" noProof="0" dirty="0">
                <a:solidFill>
                  <a:srgbClr val="555555"/>
                </a:solidFill>
                <a:latin typeface="Calibri"/>
              </a:rPr>
              <a:t> e incorporando criterios de protección de datos personales.</a:t>
            </a:r>
            <a:endParaRPr lang="es-CL" sz="3200" b="1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Rounded Rectangle 124"/>
          <p:cNvSpPr/>
          <p:nvPr/>
        </p:nvSpPr>
        <p:spPr>
          <a:xfrm>
            <a:off x="237067" y="4281995"/>
            <a:ext cx="5743109" cy="2118805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37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just">
              <a:spcAft>
                <a:spcPts val="300"/>
              </a:spcAft>
            </a:pPr>
            <a:r>
              <a:rPr lang="es-CL" sz="1200" b="1" dirty="0">
                <a:solidFill>
                  <a:srgbClr val="555555"/>
                </a:solidFill>
                <a:latin typeface="Calibri"/>
              </a:rPr>
              <a:t>• Analizar y preparar los datos históricos de entregas y las variables demográficas y clínicas disponibles que sean pertinentes para la estimación de demanda, considerando criterios de minimización y protección de datos personales.</a:t>
            </a:r>
          </a:p>
          <a:p>
            <a:pPr algn="just">
              <a:spcAft>
                <a:spcPts val="300"/>
              </a:spcAft>
            </a:pPr>
            <a:endParaRPr lang="es-CL" sz="1200" b="1" dirty="0">
              <a:solidFill>
                <a:srgbClr val="555555"/>
              </a:solidFill>
              <a:latin typeface="Calibri"/>
            </a:endParaRPr>
          </a:p>
          <a:p>
            <a:pPr algn="just">
              <a:spcAft>
                <a:spcPts val="300"/>
              </a:spcAft>
            </a:pPr>
            <a:r>
              <a:rPr lang="es-CL" sz="1200" b="1" dirty="0">
                <a:solidFill>
                  <a:srgbClr val="555555"/>
                </a:solidFill>
                <a:latin typeface="Calibri"/>
              </a:rPr>
              <a:t>• </a:t>
            </a:r>
            <a:r>
              <a:rPr lang="es-CL" sz="1200" b="1" noProof="0" dirty="0">
                <a:solidFill>
                  <a:srgbClr val="555555"/>
                </a:solidFill>
                <a:latin typeface="Calibri"/>
              </a:rPr>
              <a:t>Desarrollar y evaluar un componente predictivo que estime el momento probable de una próxima solicitud y la cantidad de cilindros requeridos, diferenciando entre pacientes nuevos y pacientes con historial de consumo.</a:t>
            </a:r>
          </a:p>
          <a:p>
            <a:pPr algn="just">
              <a:spcAft>
                <a:spcPts val="300"/>
              </a:spcAft>
            </a:pPr>
            <a:endParaRPr lang="es-CL" sz="1100" b="1" noProof="0" dirty="0">
              <a:solidFill>
                <a:srgbClr val="555555"/>
              </a:solidFill>
              <a:latin typeface="Calibri"/>
            </a:endParaRPr>
          </a:p>
        </p:txBody>
      </p:sp>
      <p:sp>
        <p:nvSpPr>
          <p:cNvPr id="126" name="Rounded Rectangle 125"/>
          <p:cNvSpPr/>
          <p:nvPr/>
        </p:nvSpPr>
        <p:spPr>
          <a:xfrm>
            <a:off x="6217919" y="4272059"/>
            <a:ext cx="5737013" cy="2128741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37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>
              <a:spcAft>
                <a:spcPts val="300"/>
              </a:spcAft>
            </a:pPr>
            <a:r>
              <a:rPr lang="es-CL" sz="1200" b="1" noProof="0" dirty="0">
                <a:solidFill>
                  <a:srgbClr val="555555"/>
                </a:solidFill>
                <a:latin typeface="Calibri"/>
              </a:rPr>
              <a:t>• Integrar y validar los componentes de la solución mediante pruebas del modelo predictivo, pruebas funcionales y pruebas de integración, registrando los resultados y las mejoras realizadas.</a:t>
            </a:r>
          </a:p>
          <a:p>
            <a:pPr>
              <a:spcAft>
                <a:spcPts val="300"/>
              </a:spcAft>
            </a:pPr>
            <a:endParaRPr lang="es-CL" sz="1200" b="1" dirty="0">
              <a:solidFill>
                <a:srgbClr val="555555"/>
              </a:solidFill>
              <a:latin typeface="Calibri"/>
            </a:endParaRPr>
          </a:p>
          <a:p>
            <a:pPr>
              <a:spcAft>
                <a:spcPts val="300"/>
              </a:spcAft>
            </a:pPr>
            <a:r>
              <a:rPr lang="es-CL" sz="1200" b="1" dirty="0">
                <a:solidFill>
                  <a:srgbClr val="555555"/>
                </a:solidFill>
                <a:latin typeface="Calibri"/>
              </a:rPr>
              <a:t>• Implementar un componente de planificación y trazado de rutas que utilice los pacientes seleccionados y la demanda estimada para apoyar la organización de las entregas y determinar una cantidad sugerida de cilindros por ruta.</a:t>
            </a:r>
          </a:p>
          <a:p>
            <a:pPr>
              <a:spcAft>
                <a:spcPts val="300"/>
              </a:spcAft>
            </a:pPr>
            <a:endParaRPr lang="es-CL" sz="1200" b="1" dirty="0">
              <a:solidFill>
                <a:srgbClr val="555555"/>
              </a:solidFill>
              <a:latin typeface="Calibri"/>
            </a:endParaRPr>
          </a:p>
          <a:p>
            <a:pPr>
              <a:spcAft>
                <a:spcPts val="300"/>
              </a:spcAft>
            </a:pPr>
            <a:r>
              <a:rPr lang="es-CL" sz="1200" b="1" dirty="0">
                <a:solidFill>
                  <a:srgbClr val="555555"/>
                </a:solidFill>
                <a:latin typeface="Calibri"/>
              </a:rPr>
              <a:t>• Diseñar e implementar el modelo de datos y una interfaz web para intranet que permita consultar predicciones y organizar pacientes dentro de rutas de entrega.</a:t>
            </a:r>
            <a:endParaRPr lang="es-CL" sz="1100" b="1" noProof="0" dirty="0">
              <a:solidFill>
                <a:srgbClr val="555555"/>
              </a:solidFill>
              <a:latin typeface="Calibri"/>
            </a:endParaRPr>
          </a:p>
        </p:txBody>
      </p:sp>
      <p:sp>
        <p:nvSpPr>
          <p:cNvPr id="3" name="Google Shape;101;p2">
            <a:extLst>
              <a:ext uri="{FF2B5EF4-FFF2-40B4-BE49-F238E27FC236}">
                <a16:creationId xmlns:a16="http://schemas.microsoft.com/office/drawing/2014/main" id="{7A1F47B9-3B91-360F-6DFE-6B2E1E849946}"/>
              </a:ext>
            </a:extLst>
          </p:cNvPr>
          <p:cNvSpPr txBox="1"/>
          <p:nvPr/>
        </p:nvSpPr>
        <p:spPr>
          <a:xfrm>
            <a:off x="136188" y="415096"/>
            <a:ext cx="1219199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152" rIns="73152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b="1" noProof="0" dirty="0">
                <a:solidFill>
                  <a:srgbClr val="6E6E6E"/>
                </a:solidFill>
                <a:latin typeface="Calibri"/>
              </a:rPr>
              <a:t>PROYECTO “SISTEMA PREDICTIVO Y DE PLANIFICACIÓN LOGÍSTICA PARA LA DISTRIBUCIÓN DOMICILIARIA DE OXÍGENO MEDICINAL”</a:t>
            </a:r>
            <a:endParaRPr lang="es-CL" sz="3200" b="1" noProof="0" dirty="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5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5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Alcances y limitaciones del proyecto</a:t>
            </a:r>
            <a:endParaRPr lang="es-CL" noProof="0" dirty="0"/>
          </a:p>
        </p:txBody>
      </p:sp>
      <p:cxnSp>
        <p:nvCxnSpPr>
          <p:cNvPr id="133" name="Google Shape;133;p5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34" name="Rounded Rectangle 133"/>
          <p:cNvSpPr/>
          <p:nvPr/>
        </p:nvSpPr>
        <p:spPr>
          <a:xfrm>
            <a:off x="594360" y="2148840"/>
            <a:ext cx="5440680" cy="4069080"/>
          </a:xfrm>
          <a:prstGeom prst="roundRect">
            <a:avLst/>
          </a:prstGeom>
          <a:solidFill>
            <a:srgbClr val="E7F0F9"/>
          </a:solidFill>
          <a:ln w="15240">
            <a:solidFill>
              <a:srgbClr val="437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35" name="Rounded Rectangle 134"/>
          <p:cNvSpPr/>
          <p:nvPr/>
        </p:nvSpPr>
        <p:spPr>
          <a:xfrm>
            <a:off x="6172200" y="2148840"/>
            <a:ext cx="5440680" cy="4069080"/>
          </a:xfrm>
          <a:prstGeom prst="roundRect">
            <a:avLst/>
          </a:prstGeom>
          <a:solidFill>
            <a:srgbClr val="FDF2DC"/>
          </a:solidFill>
          <a:ln w="15240">
            <a:solidFill>
              <a:srgbClr val="F29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36" name="TextBox 135"/>
          <p:cNvSpPr txBox="1"/>
          <p:nvPr/>
        </p:nvSpPr>
        <p:spPr>
          <a:xfrm>
            <a:off x="777240" y="2273219"/>
            <a:ext cx="5074920" cy="437043"/>
          </a:xfrm>
          <a:prstGeom prst="rect">
            <a:avLst/>
          </a:prstGeom>
          <a:noFill/>
        </p:spPr>
        <p:txBody>
          <a:bodyPr wrap="square" lIns="64008" tIns="64008" rIns="64008" bIns="64008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1C3052"/>
                </a:solidFill>
                <a:latin typeface="Calibri"/>
              </a:rPr>
              <a:t>ALCANCES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355080" y="2273219"/>
            <a:ext cx="5074920" cy="437043"/>
          </a:xfrm>
          <a:prstGeom prst="rect">
            <a:avLst/>
          </a:prstGeom>
          <a:noFill/>
        </p:spPr>
        <p:txBody>
          <a:bodyPr wrap="square" lIns="64008" tIns="64008" rIns="64008" bIns="64008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1C3052"/>
                </a:solidFill>
                <a:latin typeface="Calibri"/>
              </a:rPr>
              <a:t>LIMITACIONES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868680" y="2788920"/>
            <a:ext cx="4892040" cy="30632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lang="es-CL" sz="1800" b="1" noProof="0" dirty="0">
                <a:solidFill>
                  <a:srgbClr val="555555"/>
                </a:solidFill>
                <a:latin typeface="Calibri"/>
              </a:rPr>
              <a:t>• Prototipo funcional de aplicación web para uso en intranet.</a:t>
            </a:r>
          </a:p>
          <a:p>
            <a:pPr algn="l">
              <a:spcAft>
                <a:spcPts val="200"/>
              </a:spcAft>
            </a:pPr>
            <a:r>
              <a:rPr lang="es-CL" sz="1800" b="1" noProof="0" dirty="0">
                <a:solidFill>
                  <a:srgbClr val="555555"/>
                </a:solidFill>
                <a:latin typeface="Calibri"/>
              </a:rPr>
              <a:t>• Estimación de próxima solicitud y cantidad de cilindros por paciente.</a:t>
            </a:r>
          </a:p>
          <a:p>
            <a:pPr algn="l">
              <a:spcAft>
                <a:spcPts val="200"/>
              </a:spcAft>
            </a:pPr>
            <a:r>
              <a:rPr lang="es-CL" sz="1800" b="1" noProof="0" dirty="0">
                <a:solidFill>
                  <a:srgbClr val="555555"/>
                </a:solidFill>
                <a:latin typeface="Calibri"/>
              </a:rPr>
              <a:t>• Enfoque diferenciado para pacientes nuevos y pacientes con historial.</a:t>
            </a:r>
          </a:p>
          <a:p>
            <a:pPr algn="l">
              <a:spcAft>
                <a:spcPts val="200"/>
              </a:spcAft>
            </a:pPr>
            <a:r>
              <a:rPr lang="es-CL" sz="1800" b="1" noProof="0" dirty="0">
                <a:solidFill>
                  <a:srgbClr val="555555"/>
                </a:solidFill>
                <a:latin typeface="Calibri"/>
              </a:rPr>
              <a:t>• Selección de pacientes, planificación y trazado de rutas y carga sugerida de cilindros.</a:t>
            </a:r>
          </a:p>
          <a:p>
            <a:pPr algn="l">
              <a:spcAft>
                <a:spcPts val="200"/>
              </a:spcAft>
            </a:pPr>
            <a:r>
              <a:rPr lang="es-CL" sz="1800" b="1" noProof="0" dirty="0">
                <a:solidFill>
                  <a:srgbClr val="555555"/>
                </a:solidFill>
                <a:latin typeface="Calibri"/>
              </a:rPr>
              <a:t>• Protección de datos mediante minimización, control de acceso, confidencialidad y seguridad.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6446520" y="2788920"/>
            <a:ext cx="4892040" cy="2669449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lang="es-CL" sz="1800" b="1" noProof="0" dirty="0">
                <a:solidFill>
                  <a:srgbClr val="555555"/>
                </a:solidFill>
                <a:latin typeface="Calibri"/>
              </a:rPr>
              <a:t>• Dependencia de la disponibilidad y calidad de los datos históricos.</a:t>
            </a:r>
          </a:p>
          <a:p>
            <a:pPr algn="l">
              <a:spcAft>
                <a:spcPts val="200"/>
              </a:spcAft>
            </a:pPr>
            <a:r>
              <a:rPr lang="es-CL" sz="1800" b="1" noProof="0" dirty="0">
                <a:solidFill>
                  <a:srgbClr val="555555"/>
                </a:solidFill>
                <a:latin typeface="Calibri"/>
              </a:rPr>
              <a:t>• Variables clínicas utilizadas solo cuando estén disponibles y sean pertinentes.</a:t>
            </a:r>
          </a:p>
          <a:p>
            <a:pPr algn="l">
              <a:spcAft>
                <a:spcPts val="200"/>
              </a:spcAft>
            </a:pPr>
            <a:r>
              <a:rPr lang="es-CL" sz="1800" b="1" noProof="0" dirty="0">
                <a:solidFill>
                  <a:srgbClr val="555555"/>
                </a:solidFill>
                <a:latin typeface="Calibri"/>
              </a:rPr>
              <a:t>• Historial limitado en pacientes nuevos.</a:t>
            </a:r>
          </a:p>
          <a:p>
            <a:pPr algn="l">
              <a:spcAft>
                <a:spcPts val="200"/>
              </a:spcAft>
            </a:pPr>
            <a:r>
              <a:rPr lang="es-CL" sz="1800" b="1" noProof="0" dirty="0">
                <a:solidFill>
                  <a:srgbClr val="555555"/>
                </a:solidFill>
                <a:latin typeface="Calibri"/>
              </a:rPr>
              <a:t>• Complejidad de integración y del problema de planificación de rutas.</a:t>
            </a:r>
          </a:p>
          <a:p>
            <a:pPr algn="l">
              <a:spcAft>
                <a:spcPts val="200"/>
              </a:spcAft>
            </a:pPr>
            <a:r>
              <a:rPr lang="es-CL" sz="1800" b="1" noProof="0" dirty="0">
                <a:solidFill>
                  <a:srgbClr val="555555"/>
                </a:solidFill>
                <a:latin typeface="Calibri"/>
              </a:rPr>
              <a:t>• Alcance centrado en un prototipo y no en infraestructura de producción.</a:t>
            </a:r>
          </a:p>
        </p:txBody>
      </p:sp>
      <p:sp>
        <p:nvSpPr>
          <p:cNvPr id="3" name="Google Shape;101;p2">
            <a:extLst>
              <a:ext uri="{FF2B5EF4-FFF2-40B4-BE49-F238E27FC236}">
                <a16:creationId xmlns:a16="http://schemas.microsoft.com/office/drawing/2014/main" id="{E977FD0D-B428-6F86-362A-6823F97B7E1B}"/>
              </a:ext>
            </a:extLst>
          </p:cNvPr>
          <p:cNvSpPr txBox="1"/>
          <p:nvPr/>
        </p:nvSpPr>
        <p:spPr>
          <a:xfrm>
            <a:off x="136188" y="415096"/>
            <a:ext cx="1219199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152" rIns="73152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b="1" noProof="0" dirty="0">
                <a:solidFill>
                  <a:srgbClr val="6E6E6E"/>
                </a:solidFill>
                <a:latin typeface="Calibri"/>
              </a:rPr>
              <a:t>PROYECTO “SISTEMA PREDICTIVO Y DE PLANIFICACIÓN LOGÍSTICA PARA LA DISTRIBUCIÓN DOMICILIARIA DE OXÍGENO MEDICINAL”</a:t>
            </a:r>
            <a:endParaRPr lang="es-CL" sz="3200" b="1" noProof="0" dirty="0"/>
          </a:p>
        </p:txBody>
      </p:sp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6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6"/>
          <p:cNvSpPr txBox="1"/>
          <p:nvPr/>
        </p:nvSpPr>
        <p:spPr>
          <a:xfrm>
            <a:off x="37254" y="113047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Metodología de trabajo para el desarrollo del proyecto</a:t>
            </a:r>
            <a:endParaRPr lang="es-CL" sz="1800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1" name="Google Shape;141;p6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42" name="Rounded Rectangle 141"/>
          <p:cNvSpPr/>
          <p:nvPr/>
        </p:nvSpPr>
        <p:spPr>
          <a:xfrm>
            <a:off x="1417320" y="2011680"/>
            <a:ext cx="9372600" cy="502920"/>
          </a:xfrm>
          <a:prstGeom prst="roundRect">
            <a:avLst/>
          </a:prstGeom>
          <a:solidFill>
            <a:srgbClr val="E7F0F9"/>
          </a:solidFill>
          <a:ln w="15240">
            <a:solidFill>
              <a:srgbClr val="437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lang="es-CL" sz="1600" b="1" noProof="0" dirty="0">
                <a:solidFill>
                  <a:srgbClr val="1C3052"/>
                </a:solidFill>
                <a:latin typeface="Calibri"/>
              </a:rPr>
              <a:t>Metodología ágil, iterativa e incremental, basada en prácticas de Scrum y adaptada al contexto académico.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594360" y="2788920"/>
            <a:ext cx="2240280" cy="1051560"/>
          </a:xfrm>
          <a:prstGeom prst="roundRect">
            <a:avLst/>
          </a:prstGeom>
          <a:solidFill>
            <a:srgbClr val="E7F0F9"/>
          </a:solidFill>
          <a:ln w="15240">
            <a:solidFill>
              <a:srgbClr val="437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44" name="Oval 143"/>
          <p:cNvSpPr/>
          <p:nvPr/>
        </p:nvSpPr>
        <p:spPr>
          <a:xfrm>
            <a:off x="667512" y="2971800"/>
            <a:ext cx="502920" cy="502920"/>
          </a:xfrm>
          <a:prstGeom prst="ellipse">
            <a:avLst/>
          </a:prstGeom>
          <a:solidFill>
            <a:srgbClr val="F29D2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lang="es-CL" sz="1200" b="1" noProof="0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252728" y="3011764"/>
            <a:ext cx="1463040" cy="560153"/>
          </a:xfrm>
          <a:prstGeom prst="rect">
            <a:avLst/>
          </a:prstGeom>
          <a:noFill/>
        </p:spPr>
        <p:txBody>
          <a:bodyPr wrap="square" lIns="64008" tIns="64008" rIns="64008" bIns="64008" anchor="ctr">
            <a:spAutoFit/>
          </a:bodyPr>
          <a:lstStyle/>
          <a:p>
            <a:pPr algn="l"/>
            <a:r>
              <a:rPr lang="es-CL" b="1" noProof="0" dirty="0">
                <a:solidFill>
                  <a:srgbClr val="1C3052"/>
                </a:solidFill>
                <a:latin typeface="Calibri"/>
              </a:rPr>
              <a:t>Requerimientos</a:t>
            </a:r>
            <a:br>
              <a:rPr lang="es-CL" noProof="0" dirty="0"/>
            </a:br>
            <a:r>
              <a:rPr lang="es-CL" b="1" noProof="0" dirty="0">
                <a:solidFill>
                  <a:srgbClr val="1C3052"/>
                </a:solidFill>
                <a:latin typeface="Calibri"/>
              </a:rPr>
              <a:t>y alcance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3520440" y="2788920"/>
            <a:ext cx="2240280" cy="1051560"/>
          </a:xfrm>
          <a:prstGeom prst="roundRect">
            <a:avLst/>
          </a:prstGeom>
          <a:solidFill>
            <a:srgbClr val="E7F0F9"/>
          </a:solidFill>
          <a:ln w="15240">
            <a:solidFill>
              <a:srgbClr val="437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47" name="Oval 146"/>
          <p:cNvSpPr/>
          <p:nvPr/>
        </p:nvSpPr>
        <p:spPr>
          <a:xfrm>
            <a:off x="3593592" y="2971800"/>
            <a:ext cx="502920" cy="502920"/>
          </a:xfrm>
          <a:prstGeom prst="ellipse">
            <a:avLst/>
          </a:prstGeom>
          <a:solidFill>
            <a:srgbClr val="F29D2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lang="es-CL" sz="1200" b="1" noProof="0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4178808" y="3011764"/>
            <a:ext cx="1463040" cy="560153"/>
          </a:xfrm>
          <a:prstGeom prst="rect">
            <a:avLst/>
          </a:prstGeom>
          <a:noFill/>
        </p:spPr>
        <p:txBody>
          <a:bodyPr wrap="square" lIns="64008" tIns="64008" rIns="64008" bIns="64008" anchor="ctr">
            <a:spAutoFit/>
          </a:bodyPr>
          <a:lstStyle/>
          <a:p>
            <a:pPr algn="l"/>
            <a:r>
              <a:rPr lang="es-CL" b="1" noProof="0" dirty="0">
                <a:solidFill>
                  <a:srgbClr val="1C3052"/>
                </a:solidFill>
                <a:latin typeface="Calibri"/>
              </a:rPr>
              <a:t>Preparación</a:t>
            </a:r>
            <a:br>
              <a:rPr lang="es-CL" noProof="0" dirty="0"/>
            </a:br>
            <a:r>
              <a:rPr lang="es-CL" b="1" noProof="0" dirty="0">
                <a:solidFill>
                  <a:srgbClr val="1C3052"/>
                </a:solidFill>
                <a:latin typeface="Calibri"/>
              </a:rPr>
              <a:t>de datos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6446520" y="2788920"/>
            <a:ext cx="2240280" cy="1051560"/>
          </a:xfrm>
          <a:prstGeom prst="roundRect">
            <a:avLst/>
          </a:prstGeom>
          <a:solidFill>
            <a:srgbClr val="E7F0F9"/>
          </a:solidFill>
          <a:ln w="15240">
            <a:solidFill>
              <a:srgbClr val="437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50" name="Oval 149"/>
          <p:cNvSpPr/>
          <p:nvPr/>
        </p:nvSpPr>
        <p:spPr>
          <a:xfrm>
            <a:off x="6519672" y="2971800"/>
            <a:ext cx="502920" cy="502920"/>
          </a:xfrm>
          <a:prstGeom prst="ellipse">
            <a:avLst/>
          </a:prstGeom>
          <a:solidFill>
            <a:srgbClr val="F29D2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lang="es-CL" sz="1200" b="1" noProof="0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7104888" y="3011762"/>
            <a:ext cx="1463040" cy="560153"/>
          </a:xfrm>
          <a:prstGeom prst="rect">
            <a:avLst/>
          </a:prstGeom>
          <a:noFill/>
        </p:spPr>
        <p:txBody>
          <a:bodyPr wrap="square" lIns="64008" tIns="64008" rIns="64008" bIns="64008" anchor="ctr">
            <a:spAutoFit/>
          </a:bodyPr>
          <a:lstStyle/>
          <a:p>
            <a:pPr algn="l"/>
            <a:r>
              <a:rPr lang="es-CL" b="1" noProof="0" dirty="0">
                <a:solidFill>
                  <a:srgbClr val="1C3052"/>
                </a:solidFill>
                <a:latin typeface="Calibri"/>
              </a:rPr>
              <a:t>Modelo de datos</a:t>
            </a:r>
            <a:br>
              <a:rPr lang="es-CL" noProof="0" dirty="0"/>
            </a:br>
            <a:r>
              <a:rPr lang="es-CL" b="1" noProof="0" dirty="0">
                <a:solidFill>
                  <a:srgbClr val="1C3052"/>
                </a:solidFill>
                <a:latin typeface="Calibri"/>
              </a:rPr>
              <a:t>y protección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9372600" y="2788920"/>
            <a:ext cx="2240280" cy="1051560"/>
          </a:xfrm>
          <a:prstGeom prst="roundRect">
            <a:avLst/>
          </a:prstGeom>
          <a:solidFill>
            <a:srgbClr val="E7F0F9"/>
          </a:solidFill>
          <a:ln w="15240">
            <a:solidFill>
              <a:srgbClr val="437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53" name="Oval 152"/>
          <p:cNvSpPr/>
          <p:nvPr/>
        </p:nvSpPr>
        <p:spPr>
          <a:xfrm>
            <a:off x="9445752" y="2971800"/>
            <a:ext cx="502920" cy="502920"/>
          </a:xfrm>
          <a:prstGeom prst="ellipse">
            <a:avLst/>
          </a:prstGeom>
          <a:solidFill>
            <a:srgbClr val="437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lang="es-CL" sz="1200" b="1" noProof="0" dirty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0030968" y="3011762"/>
            <a:ext cx="1463040" cy="560153"/>
          </a:xfrm>
          <a:prstGeom prst="rect">
            <a:avLst/>
          </a:prstGeom>
          <a:noFill/>
        </p:spPr>
        <p:txBody>
          <a:bodyPr wrap="square" lIns="64008" tIns="64008" rIns="64008" bIns="64008" anchor="ctr">
            <a:spAutoFit/>
          </a:bodyPr>
          <a:lstStyle/>
          <a:p>
            <a:pPr algn="l"/>
            <a:r>
              <a:rPr lang="es-CL" b="1" noProof="0" dirty="0">
                <a:solidFill>
                  <a:srgbClr val="1C3052"/>
                </a:solidFill>
                <a:latin typeface="Calibri"/>
              </a:rPr>
              <a:t>Modelo</a:t>
            </a:r>
            <a:br>
              <a:rPr lang="es-CL" noProof="0" dirty="0"/>
            </a:br>
            <a:r>
              <a:rPr lang="es-CL" b="1" noProof="0" dirty="0">
                <a:solidFill>
                  <a:srgbClr val="1C3052"/>
                </a:solidFill>
                <a:latin typeface="Calibri"/>
              </a:rPr>
              <a:t>predictivo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594360" y="4343400"/>
            <a:ext cx="2240280" cy="1051560"/>
          </a:xfrm>
          <a:prstGeom prst="roundRect">
            <a:avLst/>
          </a:prstGeom>
          <a:solidFill>
            <a:srgbClr val="F5F7F9"/>
          </a:solidFill>
          <a:ln w="15240">
            <a:solidFill>
              <a:srgbClr val="437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56" name="Oval 155"/>
          <p:cNvSpPr/>
          <p:nvPr/>
        </p:nvSpPr>
        <p:spPr>
          <a:xfrm>
            <a:off x="667512" y="4526280"/>
            <a:ext cx="502920" cy="502920"/>
          </a:xfrm>
          <a:prstGeom prst="ellipse">
            <a:avLst/>
          </a:prstGeom>
          <a:solidFill>
            <a:srgbClr val="437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lang="es-CL" sz="1200" b="1" noProof="0" dirty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252728" y="4566244"/>
            <a:ext cx="1463040" cy="560153"/>
          </a:xfrm>
          <a:prstGeom prst="rect">
            <a:avLst/>
          </a:prstGeom>
          <a:noFill/>
        </p:spPr>
        <p:txBody>
          <a:bodyPr wrap="square" lIns="64008" tIns="64008" rIns="64008" bIns="64008" anchor="ctr">
            <a:spAutoFit/>
          </a:bodyPr>
          <a:lstStyle/>
          <a:p>
            <a:pPr algn="l"/>
            <a:r>
              <a:rPr lang="es-CL" b="1" noProof="0" dirty="0">
                <a:solidFill>
                  <a:srgbClr val="1C3052"/>
                </a:solidFill>
                <a:latin typeface="Calibri"/>
              </a:rPr>
              <a:t>Aplicación web</a:t>
            </a:r>
            <a:br>
              <a:rPr lang="es-CL" noProof="0" dirty="0"/>
            </a:br>
            <a:r>
              <a:rPr lang="es-CL" b="1" noProof="0" dirty="0">
                <a:solidFill>
                  <a:srgbClr val="1C3052"/>
                </a:solidFill>
                <a:latin typeface="Calibri"/>
              </a:rPr>
              <a:t>intranet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3520440" y="4343400"/>
            <a:ext cx="2240280" cy="1051560"/>
          </a:xfrm>
          <a:prstGeom prst="roundRect">
            <a:avLst/>
          </a:prstGeom>
          <a:solidFill>
            <a:srgbClr val="F5F7F9"/>
          </a:solidFill>
          <a:ln w="15240">
            <a:solidFill>
              <a:srgbClr val="437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59" name="Oval 158"/>
          <p:cNvSpPr/>
          <p:nvPr/>
        </p:nvSpPr>
        <p:spPr>
          <a:xfrm>
            <a:off x="3593592" y="4526280"/>
            <a:ext cx="502920" cy="502920"/>
          </a:xfrm>
          <a:prstGeom prst="ellipse">
            <a:avLst/>
          </a:prstGeom>
          <a:solidFill>
            <a:srgbClr val="437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lang="es-CL" sz="1200" b="1" noProof="0" dirty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4178808" y="4566243"/>
            <a:ext cx="1463040" cy="560153"/>
          </a:xfrm>
          <a:prstGeom prst="rect">
            <a:avLst/>
          </a:prstGeom>
          <a:noFill/>
        </p:spPr>
        <p:txBody>
          <a:bodyPr wrap="square" lIns="64008" tIns="64008" rIns="64008" bIns="64008" anchor="ctr">
            <a:spAutoFit/>
          </a:bodyPr>
          <a:lstStyle/>
          <a:p>
            <a:pPr algn="l"/>
            <a:r>
              <a:rPr lang="es-CL" b="1" noProof="0" dirty="0">
                <a:solidFill>
                  <a:srgbClr val="1C3052"/>
                </a:solidFill>
                <a:latin typeface="Calibri"/>
              </a:rPr>
              <a:t>Rutas y carga</a:t>
            </a:r>
            <a:br>
              <a:rPr lang="es-CL" noProof="0" dirty="0"/>
            </a:br>
            <a:r>
              <a:rPr lang="es-CL" b="1" noProof="0" dirty="0">
                <a:solidFill>
                  <a:srgbClr val="1C3052"/>
                </a:solidFill>
                <a:latin typeface="Calibri"/>
              </a:rPr>
              <a:t>de cilindros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6446520" y="4343400"/>
            <a:ext cx="2240280" cy="1051560"/>
          </a:xfrm>
          <a:prstGeom prst="roundRect">
            <a:avLst/>
          </a:prstGeom>
          <a:solidFill>
            <a:srgbClr val="F5F7F9"/>
          </a:solidFill>
          <a:ln w="15240">
            <a:solidFill>
              <a:srgbClr val="437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62" name="Oval 161"/>
          <p:cNvSpPr/>
          <p:nvPr/>
        </p:nvSpPr>
        <p:spPr>
          <a:xfrm>
            <a:off x="6519672" y="4526280"/>
            <a:ext cx="502920" cy="502920"/>
          </a:xfrm>
          <a:prstGeom prst="ellipse">
            <a:avLst/>
          </a:prstGeom>
          <a:solidFill>
            <a:srgbClr val="437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lang="es-CL" sz="1200" b="1" noProof="0" dirty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7104888" y="4566243"/>
            <a:ext cx="1508760" cy="560153"/>
          </a:xfrm>
          <a:prstGeom prst="rect">
            <a:avLst/>
          </a:prstGeom>
          <a:noFill/>
        </p:spPr>
        <p:txBody>
          <a:bodyPr wrap="square" lIns="64008" tIns="64008" rIns="64008" bIns="64008" anchor="ctr">
            <a:spAutoFit/>
          </a:bodyPr>
          <a:lstStyle/>
          <a:p>
            <a:pPr algn="l"/>
            <a:r>
              <a:rPr lang="es-CL" b="1" noProof="0" dirty="0">
                <a:solidFill>
                  <a:srgbClr val="1C3052"/>
                </a:solidFill>
                <a:latin typeface="Calibri"/>
              </a:rPr>
              <a:t>Integración, pruebas</a:t>
            </a:r>
            <a:r>
              <a:rPr lang="es-CL" b="1" dirty="0">
                <a:solidFill>
                  <a:srgbClr val="1C3052"/>
                </a:solidFill>
                <a:latin typeface="Calibri"/>
              </a:rPr>
              <a:t> </a:t>
            </a:r>
            <a:r>
              <a:rPr lang="es-CL" b="1" noProof="0" dirty="0">
                <a:solidFill>
                  <a:srgbClr val="1C3052"/>
                </a:solidFill>
                <a:latin typeface="Calibri"/>
              </a:rPr>
              <a:t>y mejora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9372600" y="4343400"/>
            <a:ext cx="2240280" cy="1051560"/>
          </a:xfrm>
          <a:prstGeom prst="roundRect">
            <a:avLst/>
          </a:prstGeom>
          <a:solidFill>
            <a:srgbClr val="F5F7F9"/>
          </a:solidFill>
          <a:ln w="15240">
            <a:solidFill>
              <a:srgbClr val="437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65" name="Oval 164"/>
          <p:cNvSpPr/>
          <p:nvPr/>
        </p:nvSpPr>
        <p:spPr>
          <a:xfrm>
            <a:off x="9445752" y="4526280"/>
            <a:ext cx="502920" cy="502920"/>
          </a:xfrm>
          <a:prstGeom prst="ellipse">
            <a:avLst/>
          </a:prstGeom>
          <a:solidFill>
            <a:srgbClr val="437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lang="es-CL" sz="1200" b="1" noProof="0" dirty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10030968" y="4566243"/>
            <a:ext cx="1463040" cy="560153"/>
          </a:xfrm>
          <a:prstGeom prst="rect">
            <a:avLst/>
          </a:prstGeom>
          <a:noFill/>
        </p:spPr>
        <p:txBody>
          <a:bodyPr wrap="square" lIns="64008" tIns="64008" rIns="64008" bIns="64008" anchor="ctr">
            <a:spAutoFit/>
          </a:bodyPr>
          <a:lstStyle/>
          <a:p>
            <a:pPr algn="l"/>
            <a:r>
              <a:rPr lang="es-CL" b="1" noProof="0" dirty="0">
                <a:solidFill>
                  <a:srgbClr val="1C3052"/>
                </a:solidFill>
                <a:latin typeface="Calibri"/>
              </a:rPr>
              <a:t>Documentación</a:t>
            </a:r>
            <a:br>
              <a:rPr lang="es-CL" noProof="0" dirty="0"/>
            </a:br>
            <a:r>
              <a:rPr lang="es-CL" b="1" noProof="0" dirty="0">
                <a:solidFill>
                  <a:srgbClr val="1C3052"/>
                </a:solidFill>
                <a:latin typeface="Calibri"/>
              </a:rPr>
              <a:t>y cierre</a:t>
            </a:r>
          </a:p>
        </p:txBody>
      </p:sp>
      <p:cxnSp>
        <p:nvCxnSpPr>
          <p:cNvPr id="167" name="Connector 166"/>
          <p:cNvCxnSpPr/>
          <p:nvPr/>
        </p:nvCxnSpPr>
        <p:spPr>
          <a:xfrm>
            <a:off x="2834640" y="3310128"/>
            <a:ext cx="685800" cy="0"/>
          </a:xfrm>
          <a:prstGeom prst="line">
            <a:avLst/>
          </a:prstGeom>
          <a:ln w="15240">
            <a:solidFill>
              <a:srgbClr val="D2D8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5760720" y="3310128"/>
            <a:ext cx="685800" cy="0"/>
          </a:xfrm>
          <a:prstGeom prst="line">
            <a:avLst/>
          </a:prstGeom>
          <a:ln w="15240">
            <a:solidFill>
              <a:srgbClr val="D2D8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8686800" y="3310128"/>
            <a:ext cx="685800" cy="0"/>
          </a:xfrm>
          <a:prstGeom prst="line">
            <a:avLst/>
          </a:prstGeom>
          <a:ln w="15240">
            <a:solidFill>
              <a:srgbClr val="D2D8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2834640" y="4864608"/>
            <a:ext cx="685800" cy="0"/>
          </a:xfrm>
          <a:prstGeom prst="line">
            <a:avLst/>
          </a:prstGeom>
          <a:ln w="15240">
            <a:solidFill>
              <a:srgbClr val="D2D8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5760720" y="4864608"/>
            <a:ext cx="685800" cy="0"/>
          </a:xfrm>
          <a:prstGeom prst="line">
            <a:avLst/>
          </a:prstGeom>
          <a:ln w="15240">
            <a:solidFill>
              <a:srgbClr val="D2D8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8686800" y="4864608"/>
            <a:ext cx="685800" cy="0"/>
          </a:xfrm>
          <a:prstGeom prst="line">
            <a:avLst/>
          </a:prstGeom>
          <a:ln w="15240">
            <a:solidFill>
              <a:srgbClr val="D2D8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>
            <a:cxnSpLocks/>
            <a:stCxn id="152" idx="2"/>
            <a:endCxn id="155" idx="0"/>
          </p:cNvCxnSpPr>
          <p:nvPr/>
        </p:nvCxnSpPr>
        <p:spPr>
          <a:xfrm flipH="1">
            <a:off x="1714500" y="3840480"/>
            <a:ext cx="8778240" cy="502920"/>
          </a:xfrm>
          <a:prstGeom prst="line">
            <a:avLst/>
          </a:prstGeom>
          <a:ln w="15240">
            <a:solidFill>
              <a:srgbClr val="D2D8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" name="Rounded Rectangle 173"/>
          <p:cNvSpPr/>
          <p:nvPr/>
        </p:nvSpPr>
        <p:spPr>
          <a:xfrm>
            <a:off x="1417320" y="5715000"/>
            <a:ext cx="9372600" cy="438912"/>
          </a:xfrm>
          <a:prstGeom prst="roundRect">
            <a:avLst/>
          </a:prstGeom>
          <a:solidFill>
            <a:srgbClr val="FDF2DC"/>
          </a:solidFill>
          <a:ln w="15240">
            <a:solidFill>
              <a:srgbClr val="F29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lang="es-CL" b="0" noProof="0" dirty="0">
                <a:solidFill>
                  <a:srgbClr val="555555"/>
                </a:solidFill>
                <a:latin typeface="Calibri"/>
              </a:rPr>
              <a:t>Los </a:t>
            </a:r>
            <a:r>
              <a:rPr lang="es-CL" b="0" noProof="0" dirty="0" err="1">
                <a:solidFill>
                  <a:srgbClr val="555555"/>
                </a:solidFill>
                <a:latin typeface="Calibri"/>
              </a:rPr>
              <a:t>sprints</a:t>
            </a:r>
            <a:r>
              <a:rPr lang="es-CL" b="0" noProof="0" dirty="0">
                <a:solidFill>
                  <a:srgbClr val="555555"/>
                </a:solidFill>
                <a:latin typeface="Calibri"/>
              </a:rPr>
              <a:t> se alinean con el plan de trabajo; cada componente se diseña, desarrolla, prueba y ajusta antes de su integración.</a:t>
            </a:r>
          </a:p>
        </p:txBody>
      </p:sp>
      <p:sp>
        <p:nvSpPr>
          <p:cNvPr id="3" name="Google Shape;101;p2">
            <a:extLst>
              <a:ext uri="{FF2B5EF4-FFF2-40B4-BE49-F238E27FC236}">
                <a16:creationId xmlns:a16="http://schemas.microsoft.com/office/drawing/2014/main" id="{E38C49E9-35AA-6759-4F30-BDF4E06661F1}"/>
              </a:ext>
            </a:extLst>
          </p:cNvPr>
          <p:cNvSpPr txBox="1"/>
          <p:nvPr/>
        </p:nvSpPr>
        <p:spPr>
          <a:xfrm>
            <a:off x="136188" y="415096"/>
            <a:ext cx="1219199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152" rIns="73152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b="1" noProof="0" dirty="0">
                <a:solidFill>
                  <a:srgbClr val="6E6E6E"/>
                </a:solidFill>
                <a:latin typeface="Calibri"/>
              </a:rPr>
              <a:t>PROYECTO “SISTEMA PREDICTIVO Y DE PLANIFICACIÓN LOGÍSTICA PARA LA DISTRIBUCIÓN DOMICILIARIA DE OXÍGENO MEDICINAL”</a:t>
            </a:r>
            <a:endParaRPr lang="es-CL" sz="3200" b="1" noProof="0" dirty="0"/>
          </a:p>
        </p:txBody>
      </p:sp>
    </p:spTree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7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7"/>
          <p:cNvSpPr txBox="1"/>
          <p:nvPr/>
        </p:nvSpPr>
        <p:spPr>
          <a:xfrm>
            <a:off x="1" y="848378"/>
            <a:ext cx="12191999" cy="892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152" rIns="73152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100" b="1" noProof="0" dirty="0">
                <a:solidFill>
                  <a:srgbClr val="2D2D2D"/>
                </a:solidFill>
                <a:latin typeface="Calibri"/>
              </a:rPr>
              <a:t>Cronograma para el desarrollo del proyecto</a:t>
            </a:r>
            <a:endParaRPr lang="es-CL" noProof="0" dirty="0"/>
          </a:p>
        </p:txBody>
      </p:sp>
      <p:cxnSp>
        <p:nvCxnSpPr>
          <p:cNvPr id="149" name="Google Shape;149;p7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50" name="Rectangle 149"/>
          <p:cNvSpPr/>
          <p:nvPr/>
        </p:nvSpPr>
        <p:spPr>
          <a:xfrm>
            <a:off x="3566160" y="1673352"/>
            <a:ext cx="1700784" cy="292608"/>
          </a:xfrm>
          <a:prstGeom prst="rect">
            <a:avLst/>
          </a:prstGeom>
          <a:solidFill>
            <a:srgbClr val="F29D23"/>
          </a:solidFill>
          <a:ln>
            <a:solidFill>
              <a:srgbClr val="F29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lang="es-CL" sz="1600" b="1" noProof="0" dirty="0">
                <a:solidFill>
                  <a:srgbClr val="FFFFFF"/>
                </a:solidFill>
                <a:latin typeface="Calibri"/>
              </a:rPr>
              <a:t>FASE 1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5266944" y="1673352"/>
            <a:ext cx="4535424" cy="292608"/>
          </a:xfrm>
          <a:prstGeom prst="rect">
            <a:avLst/>
          </a:prstGeom>
          <a:solidFill>
            <a:srgbClr val="437EBE"/>
          </a:solidFill>
          <a:ln>
            <a:solidFill>
              <a:srgbClr val="437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lang="es-CL" sz="1600" b="1" noProof="0" dirty="0">
                <a:solidFill>
                  <a:srgbClr val="FFFFFF"/>
                </a:solidFill>
                <a:latin typeface="Calibri"/>
              </a:rPr>
              <a:t>FASE 2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9802368" y="1673352"/>
            <a:ext cx="1700784" cy="292608"/>
          </a:xfrm>
          <a:prstGeom prst="rect">
            <a:avLst/>
          </a:prstGeom>
          <a:solidFill>
            <a:srgbClr val="48918C"/>
          </a:solidFill>
          <a:ln>
            <a:solidFill>
              <a:srgbClr val="489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lang="es-CL" sz="1600" b="1" noProof="0" dirty="0">
                <a:solidFill>
                  <a:srgbClr val="FFFFFF"/>
                </a:solidFill>
                <a:latin typeface="Calibri"/>
              </a:rPr>
              <a:t>FASE 3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502920" y="2148840"/>
            <a:ext cx="3063240" cy="420624"/>
          </a:xfrm>
          <a:prstGeom prst="roundRect">
            <a:avLst/>
          </a:prstGeom>
          <a:solidFill>
            <a:srgbClr val="1C3052"/>
          </a:solidFill>
          <a:ln w="15240">
            <a:solidFill>
              <a:srgbClr val="1C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lang="es-CL" sz="1200" b="1" noProof="0" dirty="0">
                <a:solidFill>
                  <a:srgbClr val="FFFFFF"/>
                </a:solidFill>
                <a:latin typeface="Calibri"/>
              </a:rPr>
              <a:t>Actividad</a:t>
            </a:r>
            <a:endParaRPr lang="es-CL" sz="950" b="1" noProof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54" name="Rectangle 153"/>
          <p:cNvSpPr/>
          <p:nvPr/>
        </p:nvSpPr>
        <p:spPr>
          <a:xfrm>
            <a:off x="3566160" y="2148840"/>
            <a:ext cx="566928" cy="420624"/>
          </a:xfrm>
          <a:prstGeom prst="rect">
            <a:avLst/>
          </a:prstGeom>
          <a:solidFill>
            <a:srgbClr val="1C305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lang="es-CL" sz="850" b="1" noProof="0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4133088" y="2148840"/>
            <a:ext cx="566928" cy="420624"/>
          </a:xfrm>
          <a:prstGeom prst="rect">
            <a:avLst/>
          </a:prstGeom>
          <a:solidFill>
            <a:srgbClr val="1C305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lang="es-CL" sz="850" b="1" noProof="0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4700016" y="2148840"/>
            <a:ext cx="566928" cy="420624"/>
          </a:xfrm>
          <a:prstGeom prst="rect">
            <a:avLst/>
          </a:prstGeom>
          <a:solidFill>
            <a:srgbClr val="1C305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lang="es-CL" sz="850" b="1" noProof="0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5266944" y="2148840"/>
            <a:ext cx="566928" cy="420624"/>
          </a:xfrm>
          <a:prstGeom prst="rect">
            <a:avLst/>
          </a:prstGeom>
          <a:solidFill>
            <a:srgbClr val="1C305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lang="es-CL" sz="850" b="1" noProof="0" dirty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5833872" y="2148840"/>
            <a:ext cx="566928" cy="420624"/>
          </a:xfrm>
          <a:prstGeom prst="rect">
            <a:avLst/>
          </a:prstGeom>
          <a:solidFill>
            <a:srgbClr val="1C305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lang="es-CL" sz="850" b="1" noProof="0" dirty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6400800" y="2148840"/>
            <a:ext cx="566928" cy="420624"/>
          </a:xfrm>
          <a:prstGeom prst="rect">
            <a:avLst/>
          </a:prstGeom>
          <a:solidFill>
            <a:srgbClr val="1C305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lang="es-CL" sz="850" b="1" noProof="0" dirty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6967728" y="2148840"/>
            <a:ext cx="566928" cy="420624"/>
          </a:xfrm>
          <a:prstGeom prst="rect">
            <a:avLst/>
          </a:prstGeom>
          <a:solidFill>
            <a:srgbClr val="1C305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lang="es-CL" sz="850" b="1" noProof="0" dirty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7534656" y="2148840"/>
            <a:ext cx="566928" cy="420624"/>
          </a:xfrm>
          <a:prstGeom prst="rect">
            <a:avLst/>
          </a:prstGeom>
          <a:solidFill>
            <a:srgbClr val="1C305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lang="es-CL" sz="850" b="1" noProof="0" dirty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8101583" y="2148840"/>
            <a:ext cx="566928" cy="420624"/>
          </a:xfrm>
          <a:prstGeom prst="rect">
            <a:avLst/>
          </a:prstGeom>
          <a:solidFill>
            <a:srgbClr val="1C305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lang="es-CL" sz="850" b="1" noProof="0" dirty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8668512" y="2148840"/>
            <a:ext cx="566928" cy="420624"/>
          </a:xfrm>
          <a:prstGeom prst="rect">
            <a:avLst/>
          </a:prstGeom>
          <a:solidFill>
            <a:srgbClr val="1C305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lang="es-CL" sz="850" b="1" noProof="0" dirty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9235440" y="2148840"/>
            <a:ext cx="566928" cy="420624"/>
          </a:xfrm>
          <a:prstGeom prst="rect">
            <a:avLst/>
          </a:prstGeom>
          <a:solidFill>
            <a:srgbClr val="1C305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lang="es-CL" sz="850" b="1" noProof="0" dirty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9802368" y="2148840"/>
            <a:ext cx="566928" cy="420624"/>
          </a:xfrm>
          <a:prstGeom prst="rect">
            <a:avLst/>
          </a:prstGeom>
          <a:solidFill>
            <a:srgbClr val="1C305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lang="es-CL" sz="850" b="1" noProof="0" dirty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10369296" y="2148840"/>
            <a:ext cx="566928" cy="420624"/>
          </a:xfrm>
          <a:prstGeom prst="rect">
            <a:avLst/>
          </a:prstGeom>
          <a:solidFill>
            <a:srgbClr val="1C305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lang="es-CL" sz="850" b="1" noProof="0" dirty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10936224" y="2148840"/>
            <a:ext cx="566928" cy="420624"/>
          </a:xfrm>
          <a:prstGeom prst="rect">
            <a:avLst/>
          </a:prstGeom>
          <a:solidFill>
            <a:srgbClr val="1C305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lang="es-CL" sz="850" b="1" noProof="0" dirty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502920" y="2569464"/>
            <a:ext cx="3063240" cy="420624"/>
          </a:xfrm>
          <a:prstGeom prst="rect">
            <a:avLst/>
          </a:prstGeom>
          <a:solidFill>
            <a:srgbClr val="FFFFFF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lang="es-CL" sz="1200" b="1" noProof="0" dirty="0">
                <a:solidFill>
                  <a:srgbClr val="555555"/>
                </a:solidFill>
                <a:latin typeface="Calibri"/>
              </a:rPr>
              <a:t>Requerimientos y alcance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566160" y="2569464"/>
            <a:ext cx="566928" cy="420624"/>
          </a:xfrm>
          <a:prstGeom prst="rect">
            <a:avLst/>
          </a:prstGeom>
          <a:solidFill>
            <a:srgbClr val="FFFFFF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70" name="Rectangle 169"/>
          <p:cNvSpPr/>
          <p:nvPr/>
        </p:nvSpPr>
        <p:spPr>
          <a:xfrm>
            <a:off x="4133088" y="2569464"/>
            <a:ext cx="566928" cy="420624"/>
          </a:xfrm>
          <a:prstGeom prst="rect">
            <a:avLst/>
          </a:prstGeom>
          <a:solidFill>
            <a:srgbClr val="FFFFFF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71" name="Rectangle 170"/>
          <p:cNvSpPr/>
          <p:nvPr/>
        </p:nvSpPr>
        <p:spPr>
          <a:xfrm>
            <a:off x="4700016" y="2569464"/>
            <a:ext cx="566928" cy="420624"/>
          </a:xfrm>
          <a:prstGeom prst="rect">
            <a:avLst/>
          </a:prstGeom>
          <a:solidFill>
            <a:srgbClr val="FFFFFF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72" name="Rectangle 171"/>
          <p:cNvSpPr/>
          <p:nvPr/>
        </p:nvSpPr>
        <p:spPr>
          <a:xfrm>
            <a:off x="5266944" y="2569464"/>
            <a:ext cx="566928" cy="420624"/>
          </a:xfrm>
          <a:prstGeom prst="rect">
            <a:avLst/>
          </a:prstGeom>
          <a:solidFill>
            <a:srgbClr val="FFFFFF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73" name="Rectangle 172"/>
          <p:cNvSpPr/>
          <p:nvPr/>
        </p:nvSpPr>
        <p:spPr>
          <a:xfrm>
            <a:off x="5833872" y="2569464"/>
            <a:ext cx="566928" cy="420624"/>
          </a:xfrm>
          <a:prstGeom prst="rect">
            <a:avLst/>
          </a:prstGeom>
          <a:solidFill>
            <a:srgbClr val="FFFFFF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74" name="Rectangle 173"/>
          <p:cNvSpPr/>
          <p:nvPr/>
        </p:nvSpPr>
        <p:spPr>
          <a:xfrm>
            <a:off x="6400800" y="2569464"/>
            <a:ext cx="566928" cy="420624"/>
          </a:xfrm>
          <a:prstGeom prst="rect">
            <a:avLst/>
          </a:prstGeom>
          <a:solidFill>
            <a:srgbClr val="FFFFFF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75" name="Rectangle 174"/>
          <p:cNvSpPr/>
          <p:nvPr/>
        </p:nvSpPr>
        <p:spPr>
          <a:xfrm>
            <a:off x="6967728" y="2569464"/>
            <a:ext cx="566928" cy="420624"/>
          </a:xfrm>
          <a:prstGeom prst="rect">
            <a:avLst/>
          </a:prstGeom>
          <a:solidFill>
            <a:srgbClr val="FFFFFF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76" name="Rectangle 175"/>
          <p:cNvSpPr/>
          <p:nvPr/>
        </p:nvSpPr>
        <p:spPr>
          <a:xfrm>
            <a:off x="7534656" y="2569464"/>
            <a:ext cx="566928" cy="420624"/>
          </a:xfrm>
          <a:prstGeom prst="rect">
            <a:avLst/>
          </a:prstGeom>
          <a:solidFill>
            <a:srgbClr val="FFFFFF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77" name="Rectangle 176"/>
          <p:cNvSpPr/>
          <p:nvPr/>
        </p:nvSpPr>
        <p:spPr>
          <a:xfrm>
            <a:off x="8101583" y="2569464"/>
            <a:ext cx="566928" cy="420624"/>
          </a:xfrm>
          <a:prstGeom prst="rect">
            <a:avLst/>
          </a:prstGeom>
          <a:solidFill>
            <a:srgbClr val="FFFFFF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78" name="Rectangle 177"/>
          <p:cNvSpPr/>
          <p:nvPr/>
        </p:nvSpPr>
        <p:spPr>
          <a:xfrm>
            <a:off x="8668512" y="2569464"/>
            <a:ext cx="566928" cy="420624"/>
          </a:xfrm>
          <a:prstGeom prst="rect">
            <a:avLst/>
          </a:prstGeom>
          <a:solidFill>
            <a:srgbClr val="FFFFFF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79" name="Rectangle 178"/>
          <p:cNvSpPr/>
          <p:nvPr/>
        </p:nvSpPr>
        <p:spPr>
          <a:xfrm>
            <a:off x="9235440" y="2569464"/>
            <a:ext cx="566928" cy="420624"/>
          </a:xfrm>
          <a:prstGeom prst="rect">
            <a:avLst/>
          </a:prstGeom>
          <a:solidFill>
            <a:srgbClr val="FFFFFF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80" name="Rectangle 179"/>
          <p:cNvSpPr/>
          <p:nvPr/>
        </p:nvSpPr>
        <p:spPr>
          <a:xfrm>
            <a:off x="9802368" y="2569464"/>
            <a:ext cx="566928" cy="420624"/>
          </a:xfrm>
          <a:prstGeom prst="rect">
            <a:avLst/>
          </a:prstGeom>
          <a:solidFill>
            <a:srgbClr val="FFFFFF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81" name="Rectangle 180"/>
          <p:cNvSpPr/>
          <p:nvPr/>
        </p:nvSpPr>
        <p:spPr>
          <a:xfrm>
            <a:off x="10369296" y="2569464"/>
            <a:ext cx="566928" cy="420624"/>
          </a:xfrm>
          <a:prstGeom prst="rect">
            <a:avLst/>
          </a:prstGeom>
          <a:solidFill>
            <a:srgbClr val="FFFFFF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82" name="Rectangle 181"/>
          <p:cNvSpPr/>
          <p:nvPr/>
        </p:nvSpPr>
        <p:spPr>
          <a:xfrm>
            <a:off x="10936224" y="2569464"/>
            <a:ext cx="566928" cy="420624"/>
          </a:xfrm>
          <a:prstGeom prst="rect">
            <a:avLst/>
          </a:prstGeom>
          <a:solidFill>
            <a:srgbClr val="FFFFFF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83" name="Rounded Rectangle 182"/>
          <p:cNvSpPr/>
          <p:nvPr/>
        </p:nvSpPr>
        <p:spPr>
          <a:xfrm>
            <a:off x="3602736" y="2660904"/>
            <a:ext cx="493776" cy="237744"/>
          </a:xfrm>
          <a:prstGeom prst="roundRect">
            <a:avLst/>
          </a:prstGeom>
          <a:solidFill>
            <a:srgbClr val="F29D23"/>
          </a:solidFill>
          <a:ln>
            <a:solidFill>
              <a:srgbClr val="F29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84" name="Rectangle 183"/>
          <p:cNvSpPr/>
          <p:nvPr/>
        </p:nvSpPr>
        <p:spPr>
          <a:xfrm>
            <a:off x="502920" y="2990088"/>
            <a:ext cx="3063240" cy="420624"/>
          </a:xfrm>
          <a:prstGeom prst="rect">
            <a:avLst/>
          </a:prstGeom>
          <a:solidFill>
            <a:srgbClr val="F5F7F9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lang="es-CL" sz="1200" b="1" noProof="0" dirty="0">
                <a:solidFill>
                  <a:srgbClr val="555555"/>
                </a:solidFill>
                <a:latin typeface="Calibri"/>
              </a:rPr>
              <a:t>Revisión, limpieza y preparación de datos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3566160" y="2990088"/>
            <a:ext cx="566928" cy="420624"/>
          </a:xfrm>
          <a:prstGeom prst="rect">
            <a:avLst/>
          </a:prstGeom>
          <a:solidFill>
            <a:srgbClr val="F5F7F9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86" name="Rectangle 185"/>
          <p:cNvSpPr/>
          <p:nvPr/>
        </p:nvSpPr>
        <p:spPr>
          <a:xfrm>
            <a:off x="4133088" y="2990088"/>
            <a:ext cx="566928" cy="420624"/>
          </a:xfrm>
          <a:prstGeom prst="rect">
            <a:avLst/>
          </a:prstGeom>
          <a:solidFill>
            <a:srgbClr val="F5F7F9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87" name="Rectangle 186"/>
          <p:cNvSpPr/>
          <p:nvPr/>
        </p:nvSpPr>
        <p:spPr>
          <a:xfrm>
            <a:off x="4700016" y="2990088"/>
            <a:ext cx="566928" cy="420624"/>
          </a:xfrm>
          <a:prstGeom prst="rect">
            <a:avLst/>
          </a:prstGeom>
          <a:solidFill>
            <a:srgbClr val="F5F7F9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88" name="Rectangle 187"/>
          <p:cNvSpPr/>
          <p:nvPr/>
        </p:nvSpPr>
        <p:spPr>
          <a:xfrm>
            <a:off x="5266944" y="2990088"/>
            <a:ext cx="566928" cy="420624"/>
          </a:xfrm>
          <a:prstGeom prst="rect">
            <a:avLst/>
          </a:prstGeom>
          <a:solidFill>
            <a:srgbClr val="F5F7F9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89" name="Rectangle 188"/>
          <p:cNvSpPr/>
          <p:nvPr/>
        </p:nvSpPr>
        <p:spPr>
          <a:xfrm>
            <a:off x="5833872" y="2990088"/>
            <a:ext cx="566928" cy="420624"/>
          </a:xfrm>
          <a:prstGeom prst="rect">
            <a:avLst/>
          </a:prstGeom>
          <a:solidFill>
            <a:srgbClr val="F5F7F9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90" name="Rectangle 189"/>
          <p:cNvSpPr/>
          <p:nvPr/>
        </p:nvSpPr>
        <p:spPr>
          <a:xfrm>
            <a:off x="6400800" y="2990088"/>
            <a:ext cx="566928" cy="420624"/>
          </a:xfrm>
          <a:prstGeom prst="rect">
            <a:avLst/>
          </a:prstGeom>
          <a:solidFill>
            <a:srgbClr val="F5F7F9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91" name="Rectangle 190"/>
          <p:cNvSpPr/>
          <p:nvPr/>
        </p:nvSpPr>
        <p:spPr>
          <a:xfrm>
            <a:off x="6967728" y="2990088"/>
            <a:ext cx="566928" cy="420624"/>
          </a:xfrm>
          <a:prstGeom prst="rect">
            <a:avLst/>
          </a:prstGeom>
          <a:solidFill>
            <a:srgbClr val="F5F7F9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92" name="Rectangle 191"/>
          <p:cNvSpPr/>
          <p:nvPr/>
        </p:nvSpPr>
        <p:spPr>
          <a:xfrm>
            <a:off x="7534656" y="2990088"/>
            <a:ext cx="566928" cy="420624"/>
          </a:xfrm>
          <a:prstGeom prst="rect">
            <a:avLst/>
          </a:prstGeom>
          <a:solidFill>
            <a:srgbClr val="F5F7F9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93" name="Rectangle 192"/>
          <p:cNvSpPr/>
          <p:nvPr/>
        </p:nvSpPr>
        <p:spPr>
          <a:xfrm>
            <a:off x="8101583" y="2990088"/>
            <a:ext cx="566928" cy="420624"/>
          </a:xfrm>
          <a:prstGeom prst="rect">
            <a:avLst/>
          </a:prstGeom>
          <a:solidFill>
            <a:srgbClr val="F5F7F9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94" name="Rectangle 193"/>
          <p:cNvSpPr/>
          <p:nvPr/>
        </p:nvSpPr>
        <p:spPr>
          <a:xfrm>
            <a:off x="8668512" y="2990088"/>
            <a:ext cx="566928" cy="420624"/>
          </a:xfrm>
          <a:prstGeom prst="rect">
            <a:avLst/>
          </a:prstGeom>
          <a:solidFill>
            <a:srgbClr val="F5F7F9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95" name="Rectangle 194"/>
          <p:cNvSpPr/>
          <p:nvPr/>
        </p:nvSpPr>
        <p:spPr>
          <a:xfrm>
            <a:off x="9235440" y="2990088"/>
            <a:ext cx="566928" cy="420624"/>
          </a:xfrm>
          <a:prstGeom prst="rect">
            <a:avLst/>
          </a:prstGeom>
          <a:solidFill>
            <a:srgbClr val="F5F7F9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96" name="Rectangle 195"/>
          <p:cNvSpPr/>
          <p:nvPr/>
        </p:nvSpPr>
        <p:spPr>
          <a:xfrm>
            <a:off x="9802368" y="2990088"/>
            <a:ext cx="566928" cy="420624"/>
          </a:xfrm>
          <a:prstGeom prst="rect">
            <a:avLst/>
          </a:prstGeom>
          <a:solidFill>
            <a:srgbClr val="F5F7F9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97" name="Rectangle 196"/>
          <p:cNvSpPr/>
          <p:nvPr/>
        </p:nvSpPr>
        <p:spPr>
          <a:xfrm>
            <a:off x="10369296" y="2990088"/>
            <a:ext cx="566928" cy="420624"/>
          </a:xfrm>
          <a:prstGeom prst="rect">
            <a:avLst/>
          </a:prstGeom>
          <a:solidFill>
            <a:srgbClr val="F5F7F9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98" name="Rectangle 197"/>
          <p:cNvSpPr/>
          <p:nvPr/>
        </p:nvSpPr>
        <p:spPr>
          <a:xfrm>
            <a:off x="10936224" y="2990088"/>
            <a:ext cx="566928" cy="420624"/>
          </a:xfrm>
          <a:prstGeom prst="rect">
            <a:avLst/>
          </a:prstGeom>
          <a:solidFill>
            <a:srgbClr val="F5F7F9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99" name="Rounded Rectangle 198"/>
          <p:cNvSpPr/>
          <p:nvPr/>
        </p:nvSpPr>
        <p:spPr>
          <a:xfrm>
            <a:off x="4169664" y="3081528"/>
            <a:ext cx="1060704" cy="237744"/>
          </a:xfrm>
          <a:prstGeom prst="roundRect">
            <a:avLst/>
          </a:prstGeom>
          <a:solidFill>
            <a:srgbClr val="F29D23"/>
          </a:solidFill>
          <a:ln>
            <a:solidFill>
              <a:srgbClr val="F29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00" name="Rectangle 199"/>
          <p:cNvSpPr/>
          <p:nvPr/>
        </p:nvSpPr>
        <p:spPr>
          <a:xfrm>
            <a:off x="502920" y="3410712"/>
            <a:ext cx="3063240" cy="420624"/>
          </a:xfrm>
          <a:prstGeom prst="rect">
            <a:avLst/>
          </a:prstGeom>
          <a:solidFill>
            <a:srgbClr val="FFFFFF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lang="es-CL" sz="1200" b="1" noProof="0" dirty="0">
                <a:solidFill>
                  <a:srgbClr val="555555"/>
                </a:solidFill>
                <a:latin typeface="Calibri"/>
              </a:rPr>
              <a:t>Modelo de datos y protección de información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3566160" y="3410712"/>
            <a:ext cx="566928" cy="420624"/>
          </a:xfrm>
          <a:prstGeom prst="rect">
            <a:avLst/>
          </a:prstGeom>
          <a:solidFill>
            <a:srgbClr val="FFFFFF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02" name="Rectangle 201"/>
          <p:cNvSpPr/>
          <p:nvPr/>
        </p:nvSpPr>
        <p:spPr>
          <a:xfrm>
            <a:off x="4133088" y="3410712"/>
            <a:ext cx="566928" cy="420624"/>
          </a:xfrm>
          <a:prstGeom prst="rect">
            <a:avLst/>
          </a:prstGeom>
          <a:solidFill>
            <a:srgbClr val="FFFFFF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03" name="Rectangle 202"/>
          <p:cNvSpPr/>
          <p:nvPr/>
        </p:nvSpPr>
        <p:spPr>
          <a:xfrm>
            <a:off x="4700016" y="3410712"/>
            <a:ext cx="566928" cy="420624"/>
          </a:xfrm>
          <a:prstGeom prst="rect">
            <a:avLst/>
          </a:prstGeom>
          <a:solidFill>
            <a:srgbClr val="FFFFFF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04" name="Rectangle 203"/>
          <p:cNvSpPr/>
          <p:nvPr/>
        </p:nvSpPr>
        <p:spPr>
          <a:xfrm>
            <a:off x="5266944" y="3410712"/>
            <a:ext cx="566928" cy="420624"/>
          </a:xfrm>
          <a:prstGeom prst="rect">
            <a:avLst/>
          </a:prstGeom>
          <a:solidFill>
            <a:srgbClr val="FFFFFF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05" name="Rectangle 204"/>
          <p:cNvSpPr/>
          <p:nvPr/>
        </p:nvSpPr>
        <p:spPr>
          <a:xfrm>
            <a:off x="5833872" y="3410712"/>
            <a:ext cx="566928" cy="420624"/>
          </a:xfrm>
          <a:prstGeom prst="rect">
            <a:avLst/>
          </a:prstGeom>
          <a:solidFill>
            <a:srgbClr val="FFFFFF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06" name="Rectangle 205"/>
          <p:cNvSpPr/>
          <p:nvPr/>
        </p:nvSpPr>
        <p:spPr>
          <a:xfrm>
            <a:off x="6400800" y="3410712"/>
            <a:ext cx="566928" cy="420624"/>
          </a:xfrm>
          <a:prstGeom prst="rect">
            <a:avLst/>
          </a:prstGeom>
          <a:solidFill>
            <a:srgbClr val="FFFFFF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07" name="Rectangle 206"/>
          <p:cNvSpPr/>
          <p:nvPr/>
        </p:nvSpPr>
        <p:spPr>
          <a:xfrm>
            <a:off x="6967728" y="3410712"/>
            <a:ext cx="566928" cy="420624"/>
          </a:xfrm>
          <a:prstGeom prst="rect">
            <a:avLst/>
          </a:prstGeom>
          <a:solidFill>
            <a:srgbClr val="FFFFFF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08" name="Rectangle 207"/>
          <p:cNvSpPr/>
          <p:nvPr/>
        </p:nvSpPr>
        <p:spPr>
          <a:xfrm>
            <a:off x="7534656" y="3410712"/>
            <a:ext cx="566928" cy="420624"/>
          </a:xfrm>
          <a:prstGeom prst="rect">
            <a:avLst/>
          </a:prstGeom>
          <a:solidFill>
            <a:srgbClr val="FFFFFF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09" name="Rectangle 208"/>
          <p:cNvSpPr/>
          <p:nvPr/>
        </p:nvSpPr>
        <p:spPr>
          <a:xfrm>
            <a:off x="8101583" y="3410712"/>
            <a:ext cx="566928" cy="420624"/>
          </a:xfrm>
          <a:prstGeom prst="rect">
            <a:avLst/>
          </a:prstGeom>
          <a:solidFill>
            <a:srgbClr val="FFFFFF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10" name="Rectangle 209"/>
          <p:cNvSpPr/>
          <p:nvPr/>
        </p:nvSpPr>
        <p:spPr>
          <a:xfrm>
            <a:off x="8668512" y="3410712"/>
            <a:ext cx="566928" cy="420624"/>
          </a:xfrm>
          <a:prstGeom prst="rect">
            <a:avLst/>
          </a:prstGeom>
          <a:solidFill>
            <a:srgbClr val="FFFFFF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11" name="Rectangle 210"/>
          <p:cNvSpPr/>
          <p:nvPr/>
        </p:nvSpPr>
        <p:spPr>
          <a:xfrm>
            <a:off x="9235440" y="3410712"/>
            <a:ext cx="566928" cy="420624"/>
          </a:xfrm>
          <a:prstGeom prst="rect">
            <a:avLst/>
          </a:prstGeom>
          <a:solidFill>
            <a:srgbClr val="FFFFFF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12" name="Rectangle 211"/>
          <p:cNvSpPr/>
          <p:nvPr/>
        </p:nvSpPr>
        <p:spPr>
          <a:xfrm>
            <a:off x="9802368" y="3410712"/>
            <a:ext cx="566928" cy="420624"/>
          </a:xfrm>
          <a:prstGeom prst="rect">
            <a:avLst/>
          </a:prstGeom>
          <a:solidFill>
            <a:srgbClr val="FFFFFF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13" name="Rectangle 212"/>
          <p:cNvSpPr/>
          <p:nvPr/>
        </p:nvSpPr>
        <p:spPr>
          <a:xfrm>
            <a:off x="10369296" y="3410712"/>
            <a:ext cx="566928" cy="420624"/>
          </a:xfrm>
          <a:prstGeom prst="rect">
            <a:avLst/>
          </a:prstGeom>
          <a:solidFill>
            <a:srgbClr val="FFFFFF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14" name="Rectangle 213"/>
          <p:cNvSpPr/>
          <p:nvPr/>
        </p:nvSpPr>
        <p:spPr>
          <a:xfrm>
            <a:off x="10936224" y="3410712"/>
            <a:ext cx="566928" cy="420624"/>
          </a:xfrm>
          <a:prstGeom prst="rect">
            <a:avLst/>
          </a:prstGeom>
          <a:solidFill>
            <a:srgbClr val="FFFFFF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15" name="Rounded Rectangle 214"/>
          <p:cNvSpPr/>
          <p:nvPr/>
        </p:nvSpPr>
        <p:spPr>
          <a:xfrm>
            <a:off x="5303520" y="3502152"/>
            <a:ext cx="493776" cy="237744"/>
          </a:xfrm>
          <a:prstGeom prst="roundRect">
            <a:avLst/>
          </a:prstGeom>
          <a:solidFill>
            <a:srgbClr val="437EBE"/>
          </a:solidFill>
          <a:ln>
            <a:solidFill>
              <a:srgbClr val="437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16" name="Rectangle 215"/>
          <p:cNvSpPr/>
          <p:nvPr/>
        </p:nvSpPr>
        <p:spPr>
          <a:xfrm>
            <a:off x="502920" y="3831336"/>
            <a:ext cx="3063240" cy="420624"/>
          </a:xfrm>
          <a:prstGeom prst="rect">
            <a:avLst/>
          </a:prstGeom>
          <a:solidFill>
            <a:srgbClr val="F5F7F9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lang="es-CL" sz="1200" b="1" noProof="0" dirty="0">
                <a:solidFill>
                  <a:srgbClr val="555555"/>
                </a:solidFill>
                <a:latin typeface="Calibri"/>
              </a:rPr>
              <a:t>Desarrollo y evaluación del modelo predictivo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3566160" y="3831336"/>
            <a:ext cx="566928" cy="420624"/>
          </a:xfrm>
          <a:prstGeom prst="rect">
            <a:avLst/>
          </a:prstGeom>
          <a:solidFill>
            <a:srgbClr val="F5F7F9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18" name="Rectangle 217"/>
          <p:cNvSpPr/>
          <p:nvPr/>
        </p:nvSpPr>
        <p:spPr>
          <a:xfrm>
            <a:off x="4133088" y="3831336"/>
            <a:ext cx="566928" cy="420624"/>
          </a:xfrm>
          <a:prstGeom prst="rect">
            <a:avLst/>
          </a:prstGeom>
          <a:solidFill>
            <a:srgbClr val="F5F7F9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19" name="Rectangle 218"/>
          <p:cNvSpPr/>
          <p:nvPr/>
        </p:nvSpPr>
        <p:spPr>
          <a:xfrm>
            <a:off x="4700016" y="3831336"/>
            <a:ext cx="566928" cy="420624"/>
          </a:xfrm>
          <a:prstGeom prst="rect">
            <a:avLst/>
          </a:prstGeom>
          <a:solidFill>
            <a:srgbClr val="F5F7F9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20" name="Rectangle 219"/>
          <p:cNvSpPr/>
          <p:nvPr/>
        </p:nvSpPr>
        <p:spPr>
          <a:xfrm>
            <a:off x="5266944" y="3831336"/>
            <a:ext cx="566928" cy="420624"/>
          </a:xfrm>
          <a:prstGeom prst="rect">
            <a:avLst/>
          </a:prstGeom>
          <a:solidFill>
            <a:srgbClr val="F5F7F9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21" name="Rectangle 220"/>
          <p:cNvSpPr/>
          <p:nvPr/>
        </p:nvSpPr>
        <p:spPr>
          <a:xfrm>
            <a:off x="5833872" y="3831336"/>
            <a:ext cx="566928" cy="420624"/>
          </a:xfrm>
          <a:prstGeom prst="rect">
            <a:avLst/>
          </a:prstGeom>
          <a:solidFill>
            <a:srgbClr val="F5F7F9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22" name="Rectangle 221"/>
          <p:cNvSpPr/>
          <p:nvPr/>
        </p:nvSpPr>
        <p:spPr>
          <a:xfrm>
            <a:off x="6400800" y="3831336"/>
            <a:ext cx="566928" cy="420624"/>
          </a:xfrm>
          <a:prstGeom prst="rect">
            <a:avLst/>
          </a:prstGeom>
          <a:solidFill>
            <a:srgbClr val="F5F7F9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23" name="Rectangle 222"/>
          <p:cNvSpPr/>
          <p:nvPr/>
        </p:nvSpPr>
        <p:spPr>
          <a:xfrm>
            <a:off x="6967728" y="3831336"/>
            <a:ext cx="566928" cy="420624"/>
          </a:xfrm>
          <a:prstGeom prst="rect">
            <a:avLst/>
          </a:prstGeom>
          <a:solidFill>
            <a:srgbClr val="F5F7F9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24" name="Rectangle 223"/>
          <p:cNvSpPr/>
          <p:nvPr/>
        </p:nvSpPr>
        <p:spPr>
          <a:xfrm>
            <a:off x="7534656" y="3831336"/>
            <a:ext cx="566928" cy="420624"/>
          </a:xfrm>
          <a:prstGeom prst="rect">
            <a:avLst/>
          </a:prstGeom>
          <a:solidFill>
            <a:srgbClr val="F5F7F9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25" name="Rectangle 224"/>
          <p:cNvSpPr/>
          <p:nvPr/>
        </p:nvSpPr>
        <p:spPr>
          <a:xfrm>
            <a:off x="8101583" y="3831336"/>
            <a:ext cx="566928" cy="420624"/>
          </a:xfrm>
          <a:prstGeom prst="rect">
            <a:avLst/>
          </a:prstGeom>
          <a:solidFill>
            <a:srgbClr val="F5F7F9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26" name="Rectangle 225"/>
          <p:cNvSpPr/>
          <p:nvPr/>
        </p:nvSpPr>
        <p:spPr>
          <a:xfrm>
            <a:off x="8668512" y="3831336"/>
            <a:ext cx="566928" cy="420624"/>
          </a:xfrm>
          <a:prstGeom prst="rect">
            <a:avLst/>
          </a:prstGeom>
          <a:solidFill>
            <a:srgbClr val="F5F7F9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27" name="Rectangle 226"/>
          <p:cNvSpPr/>
          <p:nvPr/>
        </p:nvSpPr>
        <p:spPr>
          <a:xfrm>
            <a:off x="9235440" y="3831336"/>
            <a:ext cx="566928" cy="420624"/>
          </a:xfrm>
          <a:prstGeom prst="rect">
            <a:avLst/>
          </a:prstGeom>
          <a:solidFill>
            <a:srgbClr val="F5F7F9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28" name="Rectangle 227"/>
          <p:cNvSpPr/>
          <p:nvPr/>
        </p:nvSpPr>
        <p:spPr>
          <a:xfrm>
            <a:off x="9802368" y="3831336"/>
            <a:ext cx="566928" cy="420624"/>
          </a:xfrm>
          <a:prstGeom prst="rect">
            <a:avLst/>
          </a:prstGeom>
          <a:solidFill>
            <a:srgbClr val="F5F7F9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29" name="Rectangle 228"/>
          <p:cNvSpPr/>
          <p:nvPr/>
        </p:nvSpPr>
        <p:spPr>
          <a:xfrm>
            <a:off x="10369296" y="3831336"/>
            <a:ext cx="566928" cy="420624"/>
          </a:xfrm>
          <a:prstGeom prst="rect">
            <a:avLst/>
          </a:prstGeom>
          <a:solidFill>
            <a:srgbClr val="F5F7F9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30" name="Rectangle 229"/>
          <p:cNvSpPr/>
          <p:nvPr/>
        </p:nvSpPr>
        <p:spPr>
          <a:xfrm>
            <a:off x="10936224" y="3831336"/>
            <a:ext cx="566928" cy="420624"/>
          </a:xfrm>
          <a:prstGeom prst="rect">
            <a:avLst/>
          </a:prstGeom>
          <a:solidFill>
            <a:srgbClr val="F5F7F9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31" name="Rounded Rectangle 230"/>
          <p:cNvSpPr/>
          <p:nvPr/>
        </p:nvSpPr>
        <p:spPr>
          <a:xfrm>
            <a:off x="5870448" y="3922776"/>
            <a:ext cx="1627631" cy="237744"/>
          </a:xfrm>
          <a:prstGeom prst="roundRect">
            <a:avLst/>
          </a:prstGeom>
          <a:solidFill>
            <a:srgbClr val="437EBE"/>
          </a:solidFill>
          <a:ln>
            <a:solidFill>
              <a:srgbClr val="437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32" name="Rectangle 231"/>
          <p:cNvSpPr/>
          <p:nvPr/>
        </p:nvSpPr>
        <p:spPr>
          <a:xfrm>
            <a:off x="502920" y="4251960"/>
            <a:ext cx="3063240" cy="420624"/>
          </a:xfrm>
          <a:prstGeom prst="rect">
            <a:avLst/>
          </a:prstGeom>
          <a:solidFill>
            <a:srgbClr val="FFFFFF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lang="es-CL" sz="1200" b="1" noProof="0" dirty="0">
                <a:solidFill>
                  <a:srgbClr val="555555"/>
                </a:solidFill>
                <a:latin typeface="Calibri"/>
              </a:rPr>
              <a:t>Desarrollo de la aplicación web de intranet</a:t>
            </a:r>
          </a:p>
        </p:txBody>
      </p:sp>
      <p:sp>
        <p:nvSpPr>
          <p:cNvPr id="233" name="Rectangle 232"/>
          <p:cNvSpPr/>
          <p:nvPr/>
        </p:nvSpPr>
        <p:spPr>
          <a:xfrm>
            <a:off x="3566160" y="4251960"/>
            <a:ext cx="566928" cy="420624"/>
          </a:xfrm>
          <a:prstGeom prst="rect">
            <a:avLst/>
          </a:prstGeom>
          <a:solidFill>
            <a:srgbClr val="FFFFFF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34" name="Rectangle 233"/>
          <p:cNvSpPr/>
          <p:nvPr/>
        </p:nvSpPr>
        <p:spPr>
          <a:xfrm>
            <a:off x="4133088" y="4251960"/>
            <a:ext cx="566928" cy="420624"/>
          </a:xfrm>
          <a:prstGeom prst="rect">
            <a:avLst/>
          </a:prstGeom>
          <a:solidFill>
            <a:srgbClr val="FFFFFF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35" name="Rectangle 234"/>
          <p:cNvSpPr/>
          <p:nvPr/>
        </p:nvSpPr>
        <p:spPr>
          <a:xfrm>
            <a:off x="4700016" y="4251960"/>
            <a:ext cx="566928" cy="420624"/>
          </a:xfrm>
          <a:prstGeom prst="rect">
            <a:avLst/>
          </a:prstGeom>
          <a:solidFill>
            <a:srgbClr val="FFFFFF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36" name="Rectangle 235"/>
          <p:cNvSpPr/>
          <p:nvPr/>
        </p:nvSpPr>
        <p:spPr>
          <a:xfrm>
            <a:off x="5266944" y="4251960"/>
            <a:ext cx="566928" cy="420624"/>
          </a:xfrm>
          <a:prstGeom prst="rect">
            <a:avLst/>
          </a:prstGeom>
          <a:solidFill>
            <a:srgbClr val="FFFFFF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37" name="Rectangle 236"/>
          <p:cNvSpPr/>
          <p:nvPr/>
        </p:nvSpPr>
        <p:spPr>
          <a:xfrm>
            <a:off x="5833872" y="4251960"/>
            <a:ext cx="566928" cy="420624"/>
          </a:xfrm>
          <a:prstGeom prst="rect">
            <a:avLst/>
          </a:prstGeom>
          <a:solidFill>
            <a:srgbClr val="FFFFFF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38" name="Rectangle 237"/>
          <p:cNvSpPr/>
          <p:nvPr/>
        </p:nvSpPr>
        <p:spPr>
          <a:xfrm>
            <a:off x="6400800" y="4251960"/>
            <a:ext cx="566928" cy="420624"/>
          </a:xfrm>
          <a:prstGeom prst="rect">
            <a:avLst/>
          </a:prstGeom>
          <a:solidFill>
            <a:srgbClr val="FFFFFF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39" name="Rectangle 238"/>
          <p:cNvSpPr/>
          <p:nvPr/>
        </p:nvSpPr>
        <p:spPr>
          <a:xfrm>
            <a:off x="6967728" y="4251960"/>
            <a:ext cx="566928" cy="420624"/>
          </a:xfrm>
          <a:prstGeom prst="rect">
            <a:avLst/>
          </a:prstGeom>
          <a:solidFill>
            <a:srgbClr val="FFFFFF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40" name="Rectangle 239"/>
          <p:cNvSpPr/>
          <p:nvPr/>
        </p:nvSpPr>
        <p:spPr>
          <a:xfrm>
            <a:off x="7534656" y="4251960"/>
            <a:ext cx="566928" cy="420624"/>
          </a:xfrm>
          <a:prstGeom prst="rect">
            <a:avLst/>
          </a:prstGeom>
          <a:solidFill>
            <a:srgbClr val="FFFFFF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41" name="Rectangle 240"/>
          <p:cNvSpPr/>
          <p:nvPr/>
        </p:nvSpPr>
        <p:spPr>
          <a:xfrm>
            <a:off x="8101583" y="4251960"/>
            <a:ext cx="566928" cy="420624"/>
          </a:xfrm>
          <a:prstGeom prst="rect">
            <a:avLst/>
          </a:prstGeom>
          <a:solidFill>
            <a:srgbClr val="FFFFFF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42" name="Rectangle 241"/>
          <p:cNvSpPr/>
          <p:nvPr/>
        </p:nvSpPr>
        <p:spPr>
          <a:xfrm>
            <a:off x="8668512" y="4251960"/>
            <a:ext cx="566928" cy="420624"/>
          </a:xfrm>
          <a:prstGeom prst="rect">
            <a:avLst/>
          </a:prstGeom>
          <a:solidFill>
            <a:srgbClr val="FFFFFF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43" name="Rectangle 242"/>
          <p:cNvSpPr/>
          <p:nvPr/>
        </p:nvSpPr>
        <p:spPr>
          <a:xfrm>
            <a:off x="9235440" y="4251960"/>
            <a:ext cx="566928" cy="420624"/>
          </a:xfrm>
          <a:prstGeom prst="rect">
            <a:avLst/>
          </a:prstGeom>
          <a:solidFill>
            <a:srgbClr val="FFFFFF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44" name="Rectangle 243"/>
          <p:cNvSpPr/>
          <p:nvPr/>
        </p:nvSpPr>
        <p:spPr>
          <a:xfrm>
            <a:off x="9802368" y="4251960"/>
            <a:ext cx="566928" cy="420624"/>
          </a:xfrm>
          <a:prstGeom prst="rect">
            <a:avLst/>
          </a:prstGeom>
          <a:solidFill>
            <a:srgbClr val="FFFFFF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45" name="Rectangle 244"/>
          <p:cNvSpPr/>
          <p:nvPr/>
        </p:nvSpPr>
        <p:spPr>
          <a:xfrm>
            <a:off x="10369296" y="4251960"/>
            <a:ext cx="566928" cy="420624"/>
          </a:xfrm>
          <a:prstGeom prst="rect">
            <a:avLst/>
          </a:prstGeom>
          <a:solidFill>
            <a:srgbClr val="FFFFFF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46" name="Rectangle 245"/>
          <p:cNvSpPr/>
          <p:nvPr/>
        </p:nvSpPr>
        <p:spPr>
          <a:xfrm>
            <a:off x="10936224" y="4251960"/>
            <a:ext cx="566928" cy="420624"/>
          </a:xfrm>
          <a:prstGeom prst="rect">
            <a:avLst/>
          </a:prstGeom>
          <a:solidFill>
            <a:srgbClr val="FFFFFF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47" name="Rounded Rectangle 246"/>
          <p:cNvSpPr/>
          <p:nvPr/>
        </p:nvSpPr>
        <p:spPr>
          <a:xfrm>
            <a:off x="7571231" y="4343400"/>
            <a:ext cx="1060704" cy="237744"/>
          </a:xfrm>
          <a:prstGeom prst="roundRect">
            <a:avLst/>
          </a:prstGeom>
          <a:solidFill>
            <a:srgbClr val="437EBE"/>
          </a:solidFill>
          <a:ln>
            <a:solidFill>
              <a:srgbClr val="437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48" name="Rectangle 247"/>
          <p:cNvSpPr/>
          <p:nvPr/>
        </p:nvSpPr>
        <p:spPr>
          <a:xfrm>
            <a:off x="502920" y="4672584"/>
            <a:ext cx="3063240" cy="420624"/>
          </a:xfrm>
          <a:prstGeom prst="rect">
            <a:avLst/>
          </a:prstGeom>
          <a:solidFill>
            <a:srgbClr val="F5F7F9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lang="es-CL" sz="1200" b="1" noProof="0" dirty="0">
                <a:solidFill>
                  <a:srgbClr val="555555"/>
                </a:solidFill>
                <a:latin typeface="Calibri"/>
              </a:rPr>
              <a:t>Planificación y trazado de rutas y cálculo de carga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3566160" y="4672584"/>
            <a:ext cx="566928" cy="420624"/>
          </a:xfrm>
          <a:prstGeom prst="rect">
            <a:avLst/>
          </a:prstGeom>
          <a:solidFill>
            <a:srgbClr val="F5F7F9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50" name="Rectangle 249"/>
          <p:cNvSpPr/>
          <p:nvPr/>
        </p:nvSpPr>
        <p:spPr>
          <a:xfrm>
            <a:off x="4133088" y="4672584"/>
            <a:ext cx="566928" cy="420624"/>
          </a:xfrm>
          <a:prstGeom prst="rect">
            <a:avLst/>
          </a:prstGeom>
          <a:solidFill>
            <a:srgbClr val="F5F7F9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51" name="Rectangle 250"/>
          <p:cNvSpPr/>
          <p:nvPr/>
        </p:nvSpPr>
        <p:spPr>
          <a:xfrm>
            <a:off x="4700016" y="4672584"/>
            <a:ext cx="566928" cy="420624"/>
          </a:xfrm>
          <a:prstGeom prst="rect">
            <a:avLst/>
          </a:prstGeom>
          <a:solidFill>
            <a:srgbClr val="F5F7F9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52" name="Rectangle 251"/>
          <p:cNvSpPr/>
          <p:nvPr/>
        </p:nvSpPr>
        <p:spPr>
          <a:xfrm>
            <a:off x="5266944" y="4672584"/>
            <a:ext cx="566928" cy="420624"/>
          </a:xfrm>
          <a:prstGeom prst="rect">
            <a:avLst/>
          </a:prstGeom>
          <a:solidFill>
            <a:srgbClr val="F5F7F9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53" name="Rectangle 252"/>
          <p:cNvSpPr/>
          <p:nvPr/>
        </p:nvSpPr>
        <p:spPr>
          <a:xfrm>
            <a:off x="5833872" y="4672584"/>
            <a:ext cx="566928" cy="420624"/>
          </a:xfrm>
          <a:prstGeom prst="rect">
            <a:avLst/>
          </a:prstGeom>
          <a:solidFill>
            <a:srgbClr val="F5F7F9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54" name="Rectangle 253"/>
          <p:cNvSpPr/>
          <p:nvPr/>
        </p:nvSpPr>
        <p:spPr>
          <a:xfrm>
            <a:off x="6400800" y="4672584"/>
            <a:ext cx="566928" cy="420624"/>
          </a:xfrm>
          <a:prstGeom prst="rect">
            <a:avLst/>
          </a:prstGeom>
          <a:solidFill>
            <a:srgbClr val="F5F7F9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55" name="Rectangle 254"/>
          <p:cNvSpPr/>
          <p:nvPr/>
        </p:nvSpPr>
        <p:spPr>
          <a:xfrm>
            <a:off x="6967728" y="4672584"/>
            <a:ext cx="566928" cy="420624"/>
          </a:xfrm>
          <a:prstGeom prst="rect">
            <a:avLst/>
          </a:prstGeom>
          <a:solidFill>
            <a:srgbClr val="F5F7F9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56" name="Rectangle 255"/>
          <p:cNvSpPr/>
          <p:nvPr/>
        </p:nvSpPr>
        <p:spPr>
          <a:xfrm>
            <a:off x="7534656" y="4672584"/>
            <a:ext cx="566928" cy="420624"/>
          </a:xfrm>
          <a:prstGeom prst="rect">
            <a:avLst/>
          </a:prstGeom>
          <a:solidFill>
            <a:srgbClr val="F5F7F9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57" name="Rectangle 256"/>
          <p:cNvSpPr/>
          <p:nvPr/>
        </p:nvSpPr>
        <p:spPr>
          <a:xfrm>
            <a:off x="8101583" y="4672584"/>
            <a:ext cx="566928" cy="420624"/>
          </a:xfrm>
          <a:prstGeom prst="rect">
            <a:avLst/>
          </a:prstGeom>
          <a:solidFill>
            <a:srgbClr val="F5F7F9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58" name="Rectangle 257"/>
          <p:cNvSpPr/>
          <p:nvPr/>
        </p:nvSpPr>
        <p:spPr>
          <a:xfrm>
            <a:off x="8668512" y="4672584"/>
            <a:ext cx="566928" cy="420624"/>
          </a:xfrm>
          <a:prstGeom prst="rect">
            <a:avLst/>
          </a:prstGeom>
          <a:solidFill>
            <a:srgbClr val="F5F7F9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59" name="Rectangle 258"/>
          <p:cNvSpPr/>
          <p:nvPr/>
        </p:nvSpPr>
        <p:spPr>
          <a:xfrm>
            <a:off x="9235440" y="4672584"/>
            <a:ext cx="566928" cy="420624"/>
          </a:xfrm>
          <a:prstGeom prst="rect">
            <a:avLst/>
          </a:prstGeom>
          <a:solidFill>
            <a:srgbClr val="F5F7F9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60" name="Rectangle 259"/>
          <p:cNvSpPr/>
          <p:nvPr/>
        </p:nvSpPr>
        <p:spPr>
          <a:xfrm>
            <a:off x="9802368" y="4672584"/>
            <a:ext cx="566928" cy="420624"/>
          </a:xfrm>
          <a:prstGeom prst="rect">
            <a:avLst/>
          </a:prstGeom>
          <a:solidFill>
            <a:srgbClr val="F5F7F9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61" name="Rectangle 260"/>
          <p:cNvSpPr/>
          <p:nvPr/>
        </p:nvSpPr>
        <p:spPr>
          <a:xfrm>
            <a:off x="10369296" y="4672584"/>
            <a:ext cx="566928" cy="420624"/>
          </a:xfrm>
          <a:prstGeom prst="rect">
            <a:avLst/>
          </a:prstGeom>
          <a:solidFill>
            <a:srgbClr val="F5F7F9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62" name="Rectangle 261"/>
          <p:cNvSpPr/>
          <p:nvPr/>
        </p:nvSpPr>
        <p:spPr>
          <a:xfrm>
            <a:off x="10936224" y="4672584"/>
            <a:ext cx="566928" cy="420624"/>
          </a:xfrm>
          <a:prstGeom prst="rect">
            <a:avLst/>
          </a:prstGeom>
          <a:solidFill>
            <a:srgbClr val="F5F7F9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63" name="Rounded Rectangle 262"/>
          <p:cNvSpPr/>
          <p:nvPr/>
        </p:nvSpPr>
        <p:spPr>
          <a:xfrm>
            <a:off x="8705088" y="4764024"/>
            <a:ext cx="1060704" cy="237744"/>
          </a:xfrm>
          <a:prstGeom prst="roundRect">
            <a:avLst/>
          </a:prstGeom>
          <a:solidFill>
            <a:srgbClr val="437EBE"/>
          </a:solidFill>
          <a:ln>
            <a:solidFill>
              <a:srgbClr val="437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64" name="Rectangle 263"/>
          <p:cNvSpPr/>
          <p:nvPr/>
        </p:nvSpPr>
        <p:spPr>
          <a:xfrm>
            <a:off x="502920" y="5093208"/>
            <a:ext cx="3063240" cy="420624"/>
          </a:xfrm>
          <a:prstGeom prst="rect">
            <a:avLst/>
          </a:prstGeom>
          <a:solidFill>
            <a:srgbClr val="FFFFFF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lang="es-CL" sz="1200" b="1" noProof="0" dirty="0">
                <a:solidFill>
                  <a:srgbClr val="555555"/>
                </a:solidFill>
                <a:latin typeface="Calibri"/>
              </a:rPr>
              <a:t>Integración, pruebas y mejoras</a:t>
            </a:r>
          </a:p>
        </p:txBody>
      </p:sp>
      <p:sp>
        <p:nvSpPr>
          <p:cNvPr id="265" name="Rectangle 264"/>
          <p:cNvSpPr/>
          <p:nvPr/>
        </p:nvSpPr>
        <p:spPr>
          <a:xfrm>
            <a:off x="3566160" y="5093208"/>
            <a:ext cx="566928" cy="420624"/>
          </a:xfrm>
          <a:prstGeom prst="rect">
            <a:avLst/>
          </a:prstGeom>
          <a:solidFill>
            <a:srgbClr val="FFFFFF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66" name="Rectangle 265"/>
          <p:cNvSpPr/>
          <p:nvPr/>
        </p:nvSpPr>
        <p:spPr>
          <a:xfrm>
            <a:off x="4133088" y="5093208"/>
            <a:ext cx="566928" cy="420624"/>
          </a:xfrm>
          <a:prstGeom prst="rect">
            <a:avLst/>
          </a:prstGeom>
          <a:solidFill>
            <a:srgbClr val="FFFFFF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67" name="Rectangle 266"/>
          <p:cNvSpPr/>
          <p:nvPr/>
        </p:nvSpPr>
        <p:spPr>
          <a:xfrm>
            <a:off x="4700016" y="5093208"/>
            <a:ext cx="566928" cy="420624"/>
          </a:xfrm>
          <a:prstGeom prst="rect">
            <a:avLst/>
          </a:prstGeom>
          <a:solidFill>
            <a:srgbClr val="FFFFFF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68" name="Rectangle 267"/>
          <p:cNvSpPr/>
          <p:nvPr/>
        </p:nvSpPr>
        <p:spPr>
          <a:xfrm>
            <a:off x="5266944" y="5093208"/>
            <a:ext cx="566928" cy="420624"/>
          </a:xfrm>
          <a:prstGeom prst="rect">
            <a:avLst/>
          </a:prstGeom>
          <a:solidFill>
            <a:srgbClr val="FFFFFF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69" name="Rectangle 268"/>
          <p:cNvSpPr/>
          <p:nvPr/>
        </p:nvSpPr>
        <p:spPr>
          <a:xfrm>
            <a:off x="5833872" y="5093208"/>
            <a:ext cx="566928" cy="420624"/>
          </a:xfrm>
          <a:prstGeom prst="rect">
            <a:avLst/>
          </a:prstGeom>
          <a:solidFill>
            <a:srgbClr val="FFFFFF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70" name="Rectangle 269"/>
          <p:cNvSpPr/>
          <p:nvPr/>
        </p:nvSpPr>
        <p:spPr>
          <a:xfrm>
            <a:off x="6400800" y="5093208"/>
            <a:ext cx="566928" cy="420624"/>
          </a:xfrm>
          <a:prstGeom prst="rect">
            <a:avLst/>
          </a:prstGeom>
          <a:solidFill>
            <a:srgbClr val="FFFFFF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71" name="Rectangle 270"/>
          <p:cNvSpPr/>
          <p:nvPr/>
        </p:nvSpPr>
        <p:spPr>
          <a:xfrm>
            <a:off x="6967728" y="5093208"/>
            <a:ext cx="566928" cy="420624"/>
          </a:xfrm>
          <a:prstGeom prst="rect">
            <a:avLst/>
          </a:prstGeom>
          <a:solidFill>
            <a:srgbClr val="FFFFFF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72" name="Rectangle 271"/>
          <p:cNvSpPr/>
          <p:nvPr/>
        </p:nvSpPr>
        <p:spPr>
          <a:xfrm>
            <a:off x="7534656" y="5093208"/>
            <a:ext cx="566928" cy="420624"/>
          </a:xfrm>
          <a:prstGeom prst="rect">
            <a:avLst/>
          </a:prstGeom>
          <a:solidFill>
            <a:srgbClr val="FFFFFF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73" name="Rectangle 272"/>
          <p:cNvSpPr/>
          <p:nvPr/>
        </p:nvSpPr>
        <p:spPr>
          <a:xfrm>
            <a:off x="8101583" y="5093208"/>
            <a:ext cx="566928" cy="420624"/>
          </a:xfrm>
          <a:prstGeom prst="rect">
            <a:avLst/>
          </a:prstGeom>
          <a:solidFill>
            <a:srgbClr val="FFFFFF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74" name="Rectangle 273"/>
          <p:cNvSpPr/>
          <p:nvPr/>
        </p:nvSpPr>
        <p:spPr>
          <a:xfrm>
            <a:off x="8668512" y="5093208"/>
            <a:ext cx="566928" cy="420624"/>
          </a:xfrm>
          <a:prstGeom prst="rect">
            <a:avLst/>
          </a:prstGeom>
          <a:solidFill>
            <a:srgbClr val="FFFFFF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75" name="Rectangle 274"/>
          <p:cNvSpPr/>
          <p:nvPr/>
        </p:nvSpPr>
        <p:spPr>
          <a:xfrm>
            <a:off x="9235440" y="5093208"/>
            <a:ext cx="566928" cy="420624"/>
          </a:xfrm>
          <a:prstGeom prst="rect">
            <a:avLst/>
          </a:prstGeom>
          <a:solidFill>
            <a:srgbClr val="FFFFFF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76" name="Rectangle 275"/>
          <p:cNvSpPr/>
          <p:nvPr/>
        </p:nvSpPr>
        <p:spPr>
          <a:xfrm>
            <a:off x="9802368" y="5093208"/>
            <a:ext cx="566928" cy="420624"/>
          </a:xfrm>
          <a:prstGeom prst="rect">
            <a:avLst/>
          </a:prstGeom>
          <a:solidFill>
            <a:srgbClr val="FFFFFF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77" name="Rectangle 276"/>
          <p:cNvSpPr/>
          <p:nvPr/>
        </p:nvSpPr>
        <p:spPr>
          <a:xfrm>
            <a:off x="10369296" y="5093208"/>
            <a:ext cx="566928" cy="420624"/>
          </a:xfrm>
          <a:prstGeom prst="rect">
            <a:avLst/>
          </a:prstGeom>
          <a:solidFill>
            <a:srgbClr val="FFFFFF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78" name="Rectangle 277"/>
          <p:cNvSpPr/>
          <p:nvPr/>
        </p:nvSpPr>
        <p:spPr>
          <a:xfrm>
            <a:off x="10936224" y="5093208"/>
            <a:ext cx="566928" cy="420624"/>
          </a:xfrm>
          <a:prstGeom prst="rect">
            <a:avLst/>
          </a:prstGeom>
          <a:solidFill>
            <a:srgbClr val="FFFFFF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79" name="Rounded Rectangle 278"/>
          <p:cNvSpPr/>
          <p:nvPr/>
        </p:nvSpPr>
        <p:spPr>
          <a:xfrm>
            <a:off x="9838944" y="5184648"/>
            <a:ext cx="1060704" cy="237744"/>
          </a:xfrm>
          <a:prstGeom prst="roundRect">
            <a:avLst/>
          </a:prstGeom>
          <a:solidFill>
            <a:srgbClr val="48918C"/>
          </a:solidFill>
          <a:ln>
            <a:solidFill>
              <a:srgbClr val="489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80" name="Rectangle 279"/>
          <p:cNvSpPr/>
          <p:nvPr/>
        </p:nvSpPr>
        <p:spPr>
          <a:xfrm>
            <a:off x="502920" y="5513832"/>
            <a:ext cx="3063240" cy="420624"/>
          </a:xfrm>
          <a:prstGeom prst="rect">
            <a:avLst/>
          </a:prstGeom>
          <a:solidFill>
            <a:srgbClr val="F5F7F9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lang="es-CL" sz="1200" b="1" noProof="0" dirty="0">
                <a:solidFill>
                  <a:srgbClr val="555555"/>
                </a:solidFill>
                <a:latin typeface="Calibri"/>
              </a:rPr>
              <a:t>Documentación y presentación de evidencias</a:t>
            </a:r>
          </a:p>
        </p:txBody>
      </p:sp>
      <p:sp>
        <p:nvSpPr>
          <p:cNvPr id="281" name="Rectangle 280"/>
          <p:cNvSpPr/>
          <p:nvPr/>
        </p:nvSpPr>
        <p:spPr>
          <a:xfrm>
            <a:off x="3566160" y="5513832"/>
            <a:ext cx="566928" cy="420624"/>
          </a:xfrm>
          <a:prstGeom prst="rect">
            <a:avLst/>
          </a:prstGeom>
          <a:solidFill>
            <a:srgbClr val="F5F7F9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82" name="Rectangle 281"/>
          <p:cNvSpPr/>
          <p:nvPr/>
        </p:nvSpPr>
        <p:spPr>
          <a:xfrm>
            <a:off x="4133088" y="5513832"/>
            <a:ext cx="566928" cy="420624"/>
          </a:xfrm>
          <a:prstGeom prst="rect">
            <a:avLst/>
          </a:prstGeom>
          <a:solidFill>
            <a:srgbClr val="F5F7F9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83" name="Rectangle 282"/>
          <p:cNvSpPr/>
          <p:nvPr/>
        </p:nvSpPr>
        <p:spPr>
          <a:xfrm>
            <a:off x="4700016" y="5513832"/>
            <a:ext cx="566928" cy="420624"/>
          </a:xfrm>
          <a:prstGeom prst="rect">
            <a:avLst/>
          </a:prstGeom>
          <a:solidFill>
            <a:srgbClr val="F5F7F9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84" name="Rectangle 283"/>
          <p:cNvSpPr/>
          <p:nvPr/>
        </p:nvSpPr>
        <p:spPr>
          <a:xfrm>
            <a:off x="5266944" y="5513832"/>
            <a:ext cx="566928" cy="420624"/>
          </a:xfrm>
          <a:prstGeom prst="rect">
            <a:avLst/>
          </a:prstGeom>
          <a:solidFill>
            <a:srgbClr val="F5F7F9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85" name="Rectangle 284"/>
          <p:cNvSpPr/>
          <p:nvPr/>
        </p:nvSpPr>
        <p:spPr>
          <a:xfrm>
            <a:off x="5833872" y="5513832"/>
            <a:ext cx="566928" cy="420624"/>
          </a:xfrm>
          <a:prstGeom prst="rect">
            <a:avLst/>
          </a:prstGeom>
          <a:solidFill>
            <a:srgbClr val="F5F7F9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86" name="Rectangle 285"/>
          <p:cNvSpPr/>
          <p:nvPr/>
        </p:nvSpPr>
        <p:spPr>
          <a:xfrm>
            <a:off x="6400800" y="5513832"/>
            <a:ext cx="566928" cy="420624"/>
          </a:xfrm>
          <a:prstGeom prst="rect">
            <a:avLst/>
          </a:prstGeom>
          <a:solidFill>
            <a:srgbClr val="F5F7F9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87" name="Rectangle 286"/>
          <p:cNvSpPr/>
          <p:nvPr/>
        </p:nvSpPr>
        <p:spPr>
          <a:xfrm>
            <a:off x="6967728" y="5513832"/>
            <a:ext cx="566928" cy="420624"/>
          </a:xfrm>
          <a:prstGeom prst="rect">
            <a:avLst/>
          </a:prstGeom>
          <a:solidFill>
            <a:srgbClr val="F5F7F9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88" name="Rectangle 287"/>
          <p:cNvSpPr/>
          <p:nvPr/>
        </p:nvSpPr>
        <p:spPr>
          <a:xfrm>
            <a:off x="7534656" y="5513832"/>
            <a:ext cx="566928" cy="420624"/>
          </a:xfrm>
          <a:prstGeom prst="rect">
            <a:avLst/>
          </a:prstGeom>
          <a:solidFill>
            <a:srgbClr val="F5F7F9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89" name="Rectangle 288"/>
          <p:cNvSpPr/>
          <p:nvPr/>
        </p:nvSpPr>
        <p:spPr>
          <a:xfrm>
            <a:off x="8101583" y="5513832"/>
            <a:ext cx="566928" cy="420624"/>
          </a:xfrm>
          <a:prstGeom prst="rect">
            <a:avLst/>
          </a:prstGeom>
          <a:solidFill>
            <a:srgbClr val="F5F7F9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90" name="Rectangle 289"/>
          <p:cNvSpPr/>
          <p:nvPr/>
        </p:nvSpPr>
        <p:spPr>
          <a:xfrm>
            <a:off x="8668512" y="5513832"/>
            <a:ext cx="566928" cy="420624"/>
          </a:xfrm>
          <a:prstGeom prst="rect">
            <a:avLst/>
          </a:prstGeom>
          <a:solidFill>
            <a:srgbClr val="F5F7F9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91" name="Rectangle 290"/>
          <p:cNvSpPr/>
          <p:nvPr/>
        </p:nvSpPr>
        <p:spPr>
          <a:xfrm>
            <a:off x="9235440" y="5513832"/>
            <a:ext cx="566928" cy="420624"/>
          </a:xfrm>
          <a:prstGeom prst="rect">
            <a:avLst/>
          </a:prstGeom>
          <a:solidFill>
            <a:srgbClr val="F5F7F9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92" name="Rectangle 291"/>
          <p:cNvSpPr/>
          <p:nvPr/>
        </p:nvSpPr>
        <p:spPr>
          <a:xfrm>
            <a:off x="9802368" y="5513832"/>
            <a:ext cx="566928" cy="420624"/>
          </a:xfrm>
          <a:prstGeom prst="rect">
            <a:avLst/>
          </a:prstGeom>
          <a:solidFill>
            <a:srgbClr val="F5F7F9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93" name="Rectangle 292"/>
          <p:cNvSpPr/>
          <p:nvPr/>
        </p:nvSpPr>
        <p:spPr>
          <a:xfrm>
            <a:off x="10369296" y="5513832"/>
            <a:ext cx="566928" cy="420624"/>
          </a:xfrm>
          <a:prstGeom prst="rect">
            <a:avLst/>
          </a:prstGeom>
          <a:solidFill>
            <a:srgbClr val="F5F7F9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94" name="Rectangle 293"/>
          <p:cNvSpPr/>
          <p:nvPr/>
        </p:nvSpPr>
        <p:spPr>
          <a:xfrm>
            <a:off x="10936224" y="5513832"/>
            <a:ext cx="566928" cy="420624"/>
          </a:xfrm>
          <a:prstGeom prst="rect">
            <a:avLst/>
          </a:prstGeom>
          <a:solidFill>
            <a:srgbClr val="F5F7F9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95" name="Rounded Rectangle 294"/>
          <p:cNvSpPr/>
          <p:nvPr/>
        </p:nvSpPr>
        <p:spPr>
          <a:xfrm>
            <a:off x="10972800" y="5605272"/>
            <a:ext cx="493776" cy="237744"/>
          </a:xfrm>
          <a:prstGeom prst="roundRect">
            <a:avLst/>
          </a:prstGeom>
          <a:solidFill>
            <a:srgbClr val="48918C"/>
          </a:solidFill>
          <a:ln>
            <a:solidFill>
              <a:srgbClr val="489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96" name="TextBox 295"/>
          <p:cNvSpPr txBox="1"/>
          <p:nvPr/>
        </p:nvSpPr>
        <p:spPr>
          <a:xfrm>
            <a:off x="594360" y="6173582"/>
            <a:ext cx="11018520" cy="344710"/>
          </a:xfrm>
          <a:prstGeom prst="rect">
            <a:avLst/>
          </a:prstGeom>
          <a:noFill/>
        </p:spPr>
        <p:txBody>
          <a:bodyPr wrap="square" lIns="64008" tIns="64008" rIns="64008" bIns="64008" anchor="ctr">
            <a:spAutoFit/>
          </a:bodyPr>
          <a:lstStyle/>
          <a:p>
            <a:pPr algn="ctr"/>
            <a:r>
              <a:rPr lang="es-CL" b="0" noProof="0" dirty="0">
                <a:solidFill>
                  <a:srgbClr val="555555"/>
                </a:solidFill>
                <a:latin typeface="Calibri"/>
              </a:rPr>
              <a:t>Duraciones estimadas; algunas actividades pueden solaparse cuando la integración lo permita</a:t>
            </a:r>
            <a:r>
              <a:rPr lang="es-CL" sz="880" b="0" noProof="0" dirty="0">
                <a:solidFill>
                  <a:srgbClr val="555555"/>
                </a:solidFill>
                <a:latin typeface="Calibri"/>
              </a:rPr>
              <a:t>.</a:t>
            </a:r>
          </a:p>
        </p:txBody>
      </p:sp>
      <p:sp>
        <p:nvSpPr>
          <p:cNvPr id="3" name="Google Shape;101;p2">
            <a:extLst>
              <a:ext uri="{FF2B5EF4-FFF2-40B4-BE49-F238E27FC236}">
                <a16:creationId xmlns:a16="http://schemas.microsoft.com/office/drawing/2014/main" id="{A64D3060-43F9-2C14-2A72-D9A880A8CB2E}"/>
              </a:ext>
            </a:extLst>
          </p:cNvPr>
          <p:cNvSpPr txBox="1"/>
          <p:nvPr/>
        </p:nvSpPr>
        <p:spPr>
          <a:xfrm>
            <a:off x="136188" y="415096"/>
            <a:ext cx="1219199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152" rIns="73152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b="1" noProof="0" dirty="0">
                <a:solidFill>
                  <a:srgbClr val="6E6E6E"/>
                </a:solidFill>
                <a:latin typeface="Calibri"/>
              </a:rPr>
              <a:t>PROYECTO “SISTEMA PREDICTIVO Y DE PLANIFICACIÓN LOGÍSTICA PARA LA DISTRIBUCIÓN DOMICILIARIA DE OXÍGENO MEDICINAL”</a:t>
            </a:r>
            <a:endParaRPr lang="es-CL" sz="3200" b="1" noProof="0" dirty="0"/>
          </a:p>
        </p:txBody>
      </p:sp>
    </p:spTree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8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8"/>
          <p:cNvSpPr txBox="1"/>
          <p:nvPr/>
        </p:nvSpPr>
        <p:spPr>
          <a:xfrm>
            <a:off x="1" y="1588407"/>
            <a:ext cx="12191999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152" rIns="73152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100" b="1" noProof="0" dirty="0">
                <a:solidFill>
                  <a:srgbClr val="2D2D2D"/>
                </a:solidFill>
                <a:latin typeface="Calibri"/>
              </a:rPr>
              <a:t>Arquitectura de software</a:t>
            </a:r>
            <a:endParaRPr lang="es-CL" noProof="0" dirty="0"/>
          </a:p>
        </p:txBody>
      </p:sp>
      <p:cxnSp>
        <p:nvCxnSpPr>
          <p:cNvPr id="157" name="Google Shape;157;p8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" name="Google Shape;101;p2">
            <a:extLst>
              <a:ext uri="{FF2B5EF4-FFF2-40B4-BE49-F238E27FC236}">
                <a16:creationId xmlns:a16="http://schemas.microsoft.com/office/drawing/2014/main" id="{C6ED295B-F059-122F-5454-E9A6B6F8BF9D}"/>
              </a:ext>
            </a:extLst>
          </p:cNvPr>
          <p:cNvSpPr txBox="1"/>
          <p:nvPr/>
        </p:nvSpPr>
        <p:spPr>
          <a:xfrm>
            <a:off x="136188" y="415096"/>
            <a:ext cx="1219199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152" rIns="73152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b="1" noProof="0" dirty="0">
                <a:solidFill>
                  <a:srgbClr val="6E6E6E"/>
                </a:solidFill>
                <a:latin typeface="Calibri"/>
              </a:rPr>
              <a:t>PROYECTO “SISTEMA PREDICTIVO Y DE PLANIFICACIÓN LOGÍSTICA PARA LA DISTRIBUCIÓN DOMICILIARIA DE OXÍGENO MEDICINAL”</a:t>
            </a:r>
            <a:endParaRPr lang="es-CL" sz="3200" b="1" noProof="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11C9C243-E9D6-7311-7F1D-482A6C7C3B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2599412"/>
            <a:ext cx="12192000" cy="2966145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827</Words>
  <Application>Microsoft Office PowerPoint</Application>
  <PresentationFormat>Panorámica</PresentationFormat>
  <Paragraphs>96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1" baseType="lpstr">
      <vt:lpstr>Arial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Gerardo Galan Cruz</dc:creator>
  <cp:lastModifiedBy>LUIS MIGUEL TRUJILLO PALACIOS</cp:lastModifiedBy>
  <cp:revision>2</cp:revision>
  <dcterms:created xsi:type="dcterms:W3CDTF">2023-10-28T21:12:11Z</dcterms:created>
  <dcterms:modified xsi:type="dcterms:W3CDTF">2026-09-15T22:46:07Z</dcterms:modified>
</cp:coreProperties>
</file>