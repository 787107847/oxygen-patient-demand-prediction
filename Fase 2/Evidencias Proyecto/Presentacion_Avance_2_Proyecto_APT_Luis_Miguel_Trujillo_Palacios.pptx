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Jcngd7sXPErL8GQoYOiWWZ/u7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TextBox 84"/>
          <p:cNvSpPr txBox="1"/>
          <p:nvPr/>
        </p:nvSpPr>
        <p:spPr>
          <a:xfrm>
            <a:off x="685800" y="1901952"/>
            <a:ext cx="2834640" cy="5029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3000" b="1" noProof="0" dirty="0">
                <a:solidFill>
                  <a:srgbClr val="F5A623"/>
                </a:solidFill>
                <a:latin typeface="Arial"/>
              </a:rPr>
              <a:t>AVANCE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2487168"/>
            <a:ext cx="9875520" cy="1353312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700" b="1" noProof="0" dirty="0">
                <a:solidFill>
                  <a:srgbClr val="2A2631"/>
                </a:solidFill>
                <a:latin typeface="Arial"/>
              </a:rPr>
              <a:t>SISTEMA PREDICTIVO Y DE PLANIFICACIÓN LOGÍSTICA PARA LA DISTRIBUCIÓN DOMICILIARIA DE OXÍGENO MEDICINAL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2" y="4069080"/>
            <a:ext cx="969264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700" b="0" noProof="0" dirty="0">
                <a:solidFill>
                  <a:srgbClr val="616161"/>
                </a:solidFill>
                <a:latin typeface="Arial"/>
              </a:rPr>
              <a:t>Preparación de datos · Modelo de datos · Seguridad de la información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4892040"/>
            <a:ext cx="5029200" cy="347472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500" b="1" noProof="0" dirty="0">
                <a:solidFill>
                  <a:srgbClr val="2A2631"/>
                </a:solidFill>
                <a:latin typeface="Arial"/>
              </a:rPr>
              <a:t>Luis Miguel Trujillo Palacios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3232" y="3785615"/>
            <a:ext cx="109728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4" name="TextBox 103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 dirty="0">
                <a:solidFill>
                  <a:srgbClr val="2A2631"/>
                </a:solidFill>
                <a:latin typeface="Arial"/>
              </a:rPr>
              <a:t>Resumen del avance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7" name="Rounded Rectangle 106"/>
          <p:cNvSpPr/>
          <p:nvPr/>
        </p:nvSpPr>
        <p:spPr>
          <a:xfrm>
            <a:off x="594360" y="2057400"/>
            <a:ext cx="3429000" cy="196596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8" name="Rectangle 107"/>
          <p:cNvSpPr/>
          <p:nvPr/>
        </p:nvSpPr>
        <p:spPr>
          <a:xfrm>
            <a:off x="594360" y="2057400"/>
            <a:ext cx="73152" cy="1965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9" name="TextBox 108"/>
          <p:cNvSpPr txBox="1"/>
          <p:nvPr/>
        </p:nvSpPr>
        <p:spPr>
          <a:xfrm>
            <a:off x="777240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1 · Requerimientos y alcance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7240" y="2715768"/>
            <a:ext cx="3063240" cy="116128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400" b="0" noProof="0" dirty="0">
                <a:solidFill>
                  <a:srgbClr val="191919"/>
                </a:solidFill>
                <a:latin typeface="Arial"/>
              </a:rPr>
              <a:t>Documento elaborado con funciones, usuarios, restricciones, interfaces y requisitos funcionales/no funcionales.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389120" y="2057400"/>
            <a:ext cx="3429000" cy="196596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2" name="Rectangle 111"/>
          <p:cNvSpPr/>
          <p:nvPr/>
        </p:nvSpPr>
        <p:spPr>
          <a:xfrm>
            <a:off x="4389120" y="2057400"/>
            <a:ext cx="73152" cy="1965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3" name="TextBox 112"/>
          <p:cNvSpPr txBox="1"/>
          <p:nvPr/>
        </p:nvSpPr>
        <p:spPr>
          <a:xfrm>
            <a:off x="4572000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2 · Preparación de datos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0" y="2715768"/>
            <a:ext cx="3063240" cy="116128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400" b="0" noProof="0" dirty="0">
                <a:solidFill>
                  <a:srgbClr val="191919"/>
                </a:solidFill>
                <a:latin typeface="Arial"/>
              </a:rPr>
              <a:t>Comprensión de las dos fuentes, limpieza reproducible en Python/</a:t>
            </a:r>
            <a:r>
              <a:rPr lang="es-CL" sz="1400" b="0" noProof="0" dirty="0" err="1">
                <a:solidFill>
                  <a:srgbClr val="191919"/>
                </a:solidFill>
                <a:latin typeface="Arial"/>
              </a:rPr>
              <a:t>Colab</a:t>
            </a:r>
            <a:r>
              <a:rPr lang="es-CL" sz="1400" b="0" noProof="0" dirty="0">
                <a:solidFill>
                  <a:srgbClr val="191919"/>
                </a:solidFill>
                <a:latin typeface="Arial"/>
              </a:rPr>
              <a:t> y definición del criterio de historial temporal.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183879" y="2057400"/>
            <a:ext cx="3429000" cy="1965960"/>
          </a:xfrm>
          <a:prstGeom prst="roundRect">
            <a:avLst/>
          </a:prstGeom>
          <a:solidFill>
            <a:srgbClr val="EDF7EE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6" name="Rectangle 115"/>
          <p:cNvSpPr/>
          <p:nvPr/>
        </p:nvSpPr>
        <p:spPr>
          <a:xfrm>
            <a:off x="8183879" y="2057400"/>
            <a:ext cx="73152" cy="1965960"/>
          </a:xfrm>
          <a:prstGeom prst="rect">
            <a:avLst/>
          </a:prstGeom>
          <a:solidFill>
            <a:srgbClr val="3F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7" name="TextBox 116"/>
          <p:cNvSpPr txBox="1"/>
          <p:nvPr/>
        </p:nvSpPr>
        <p:spPr>
          <a:xfrm>
            <a:off x="8366759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3 · Datos y seguridad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366759" y="2715768"/>
            <a:ext cx="3063240" cy="116128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400" b="0" noProof="0" dirty="0">
                <a:solidFill>
                  <a:srgbClr val="191919"/>
                </a:solidFill>
                <a:latin typeface="Arial"/>
              </a:rPr>
              <a:t>Modelo relacional MySQL en 3FN y propuesta de separación de identidad, mínimo privilegio y auditoría.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20240" y="4617720"/>
            <a:ext cx="8366760" cy="716280"/>
          </a:xfrm>
          <a:prstGeom prst="roundRect">
            <a:avLst/>
          </a:prstGeom>
          <a:solidFill>
            <a:srgbClr val="F8F8F8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0" name="TextBox 119"/>
          <p:cNvSpPr txBox="1"/>
          <p:nvPr/>
        </p:nvSpPr>
        <p:spPr>
          <a:xfrm>
            <a:off x="2148840" y="4773168"/>
            <a:ext cx="18288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400" b="1" noProof="0" dirty="0">
                <a:solidFill>
                  <a:srgbClr val="2A2631"/>
                </a:solidFill>
                <a:latin typeface="Arial"/>
              </a:rPr>
              <a:t>Estado del plan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03320" y="4700016"/>
            <a:ext cx="6263640" cy="512961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500" b="0" noProof="0" dirty="0">
                <a:solidFill>
                  <a:srgbClr val="191919"/>
                </a:solidFill>
                <a:latin typeface="Arial"/>
              </a:rPr>
              <a:t>Al día con la Carta Gantt. La siguiente actividad corresponde al desarrollo y evaluación del modelo predictivo.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2" name="TextBox 111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>
                <a:solidFill>
                  <a:srgbClr val="2A2631"/>
                </a:solidFill>
                <a:latin typeface="Arial"/>
              </a:rPr>
              <a:t>Requerimientos y alcance definidos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5" name="Rounded Rectangle 114"/>
          <p:cNvSpPr/>
          <p:nvPr/>
        </p:nvSpPr>
        <p:spPr>
          <a:xfrm>
            <a:off x="731520" y="2057400"/>
            <a:ext cx="3429000" cy="315468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6" name="Rectangle 115"/>
          <p:cNvSpPr/>
          <p:nvPr/>
        </p:nvSpPr>
        <p:spPr>
          <a:xfrm>
            <a:off x="731520" y="2057400"/>
            <a:ext cx="73152" cy="3154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7" name="TextBox 116"/>
          <p:cNvSpPr txBox="1"/>
          <p:nvPr/>
        </p:nvSpPr>
        <p:spPr>
          <a:xfrm>
            <a:off x="914400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Funcionalidad principal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2715768"/>
            <a:ext cx="3063240" cy="235000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500" b="0" noProof="0" dirty="0">
                <a:solidFill>
                  <a:srgbClr val="191919"/>
                </a:solidFill>
                <a:latin typeface="Arial"/>
              </a:rPr>
              <a:t>• Consultar información y predicciones.
• Organizar pacientes dentro de rutas.
• Estimar carga de cilindros por ruta.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389120" y="2057400"/>
            <a:ext cx="3429000" cy="315468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0" name="Rectangle 119"/>
          <p:cNvSpPr/>
          <p:nvPr/>
        </p:nvSpPr>
        <p:spPr>
          <a:xfrm>
            <a:off x="4389120" y="2057400"/>
            <a:ext cx="73152" cy="3154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1" name="TextBox 120"/>
          <p:cNvSpPr txBox="1"/>
          <p:nvPr/>
        </p:nvSpPr>
        <p:spPr>
          <a:xfrm>
            <a:off x="4572000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Datos considerados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0" y="2715768"/>
            <a:ext cx="3063240" cy="1667123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500" b="0" noProof="0" dirty="0">
                <a:solidFill>
                  <a:srgbClr val="191919"/>
                </a:solidFill>
                <a:latin typeface="Arial"/>
              </a:rPr>
              <a:t>• Historial de despachos.
• Variables demográficas</a:t>
            </a:r>
            <a:r>
              <a:rPr lang="es-CL" sz="1500" noProof="0" dirty="0">
                <a:solidFill>
                  <a:srgbClr val="191919"/>
                </a:solidFill>
              </a:rPr>
              <a:t> e historial médico</a:t>
            </a:r>
            <a:r>
              <a:rPr lang="es-CL" sz="1500" b="0" noProof="0" dirty="0">
                <a:solidFill>
                  <a:srgbClr val="191919"/>
                </a:solidFill>
                <a:latin typeface="Arial"/>
              </a:rPr>
              <a:t> disponible.
• Información necesaria para predicción y planificación.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046720" y="2057400"/>
            <a:ext cx="3429000" cy="3154680"/>
          </a:xfrm>
          <a:prstGeom prst="roundRect">
            <a:avLst/>
          </a:prstGeom>
          <a:solidFill>
            <a:srgbClr val="EDF7EE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4" name="Rectangle 123"/>
          <p:cNvSpPr/>
          <p:nvPr/>
        </p:nvSpPr>
        <p:spPr>
          <a:xfrm>
            <a:off x="8046720" y="2057400"/>
            <a:ext cx="73152" cy="3154680"/>
          </a:xfrm>
          <a:prstGeom prst="rect">
            <a:avLst/>
          </a:prstGeom>
          <a:solidFill>
            <a:srgbClr val="3F8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5" name="TextBox 124"/>
          <p:cNvSpPr txBox="1"/>
          <p:nvPr/>
        </p:nvSpPr>
        <p:spPr>
          <a:xfrm>
            <a:off x="8229600" y="2221992"/>
            <a:ext cx="30632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Alcance controlado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29600" y="2715768"/>
            <a:ext cx="3063240" cy="235000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500" b="0" noProof="0" dirty="0">
                <a:solidFill>
                  <a:srgbClr val="191919"/>
                </a:solidFill>
                <a:latin typeface="Arial"/>
              </a:rPr>
              <a:t>• Prototipo para intranet.
• Acceso según rol.
• Sin comprometer infraestructura productiva ni módulos fuera de los objetivos.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3" name="TextBox 122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 dirty="0">
                <a:solidFill>
                  <a:srgbClr val="2A2631"/>
                </a:solidFill>
                <a:latin typeface="Arial"/>
              </a:rPr>
              <a:t>Revisión, limpieza y preparación de datos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6" name="Rounded Rectangle 125"/>
          <p:cNvSpPr/>
          <p:nvPr/>
        </p:nvSpPr>
        <p:spPr>
          <a:xfrm>
            <a:off x="594360" y="19659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7" name="TextBox 126"/>
          <p:cNvSpPr txBox="1"/>
          <p:nvPr/>
        </p:nvSpPr>
        <p:spPr>
          <a:xfrm>
            <a:off x="731520" y="2075688"/>
            <a:ext cx="1371600" cy="347472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2200" b="1" noProof="0" dirty="0">
                <a:solidFill>
                  <a:srgbClr val="F5A623"/>
                </a:solidFill>
                <a:latin typeface="Arial"/>
              </a:rPr>
              <a:t>3.211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4088" y="2450591"/>
            <a:ext cx="1426464" cy="29260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50" b="0" noProof="0" dirty="0">
                <a:solidFill>
                  <a:srgbClr val="616161"/>
                </a:solidFill>
                <a:latin typeface="Arial"/>
              </a:rPr>
              <a:t>pacientes · Base 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423160" y="19659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0" name="TextBox 129"/>
          <p:cNvSpPr txBox="1"/>
          <p:nvPr/>
        </p:nvSpPr>
        <p:spPr>
          <a:xfrm>
            <a:off x="2560320" y="2075688"/>
            <a:ext cx="1371600" cy="347472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2200" b="1" noProof="0" dirty="0">
                <a:solidFill>
                  <a:srgbClr val="1F4E79"/>
                </a:solidFill>
                <a:latin typeface="Arial"/>
              </a:rPr>
              <a:t>13.006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32888" y="2450591"/>
            <a:ext cx="1426464" cy="29260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50" b="0" noProof="0" dirty="0">
                <a:solidFill>
                  <a:srgbClr val="616161"/>
                </a:solidFill>
                <a:latin typeface="Arial"/>
              </a:rPr>
              <a:t>pacientes · Base 2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251960" y="196596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3" name="TextBox 132"/>
          <p:cNvSpPr txBox="1"/>
          <p:nvPr/>
        </p:nvSpPr>
        <p:spPr>
          <a:xfrm>
            <a:off x="4389120" y="2075688"/>
            <a:ext cx="1554480" cy="347472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2200" b="1" noProof="0" dirty="0">
                <a:solidFill>
                  <a:srgbClr val="3F824C"/>
                </a:solidFill>
                <a:latin typeface="Arial"/>
              </a:rPr>
              <a:t>166.308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361688" y="2450591"/>
            <a:ext cx="1609344" cy="29260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50" b="0" noProof="0" dirty="0">
                <a:solidFill>
                  <a:srgbClr val="616161"/>
                </a:solidFill>
                <a:latin typeface="Arial"/>
              </a:rPr>
              <a:t>despachos individuales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0080" y="3154680"/>
            <a:ext cx="5349240" cy="2514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Base 1: información demográfica y resumen mensual de cilindros.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Base 2: despachos individuales con fecha exacta; cada despacho equivale a un cilindro.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Valores faltantes de edad revisados y corregidos con la fuente original.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Criterio de selección: periodo observado aproximado de 11 meses entre primera y última entrega.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4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3413BB-8B31-0568-6B69-3F54C2C091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72" t="25841" r="2229" b="4529"/>
          <a:stretch>
            <a:fillRect/>
          </a:stretch>
        </p:blipFill>
        <p:spPr>
          <a:xfrm>
            <a:off x="6080760" y="2938271"/>
            <a:ext cx="5978199" cy="2731009"/>
          </a:xfrm>
          <a:prstGeom prst="roundRect">
            <a:avLst>
              <a:gd name="adj" fmla="val 363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TextBox 133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 dirty="0">
                <a:solidFill>
                  <a:srgbClr val="2A2631"/>
                </a:solidFill>
                <a:latin typeface="Arial"/>
              </a:rPr>
              <a:t>Modelo de base de datos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7" name="TextBox 136"/>
          <p:cNvSpPr txBox="1"/>
          <p:nvPr/>
        </p:nvSpPr>
        <p:spPr>
          <a:xfrm>
            <a:off x="640079" y="1965960"/>
            <a:ext cx="10976187" cy="128240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Base de datos relacional MySQL normalizada a 3FN.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Entidades principales: Paciente, Despacho, Ruta, Predicción, Modelo ML y ubicación geográfica.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Un paciente puede registrar múltiples despachos; cada despacho pertenece a un único paciente y a una única ruta.</a:t>
            </a:r>
          </a:p>
          <a:p>
            <a:pPr>
              <a:spcAft>
                <a:spcPts val="8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Se mantienen historiales de estados para los procesos relevantes.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5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29614A-F858-BEA5-57C9-751F4A74D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304" y="3320031"/>
            <a:ext cx="7177392" cy="3330419"/>
          </a:xfrm>
          <a:prstGeom prst="roundRect">
            <a:avLst>
              <a:gd name="adj" fmla="val 3702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2" name="TextBox 141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 dirty="0">
                <a:solidFill>
                  <a:srgbClr val="2A2631"/>
                </a:solidFill>
                <a:latin typeface="Arial"/>
              </a:rPr>
              <a:t>Propuesta de seguridad de la información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5" name="TextBox 144"/>
          <p:cNvSpPr txBox="1"/>
          <p:nvPr/>
        </p:nvSpPr>
        <p:spPr>
          <a:xfrm>
            <a:off x="484072" y="2145452"/>
            <a:ext cx="4846320" cy="3794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Separación entre identidad y datos operacionales/analíticos.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Uso de ID </a:t>
            </a:r>
            <a:r>
              <a:rPr lang="es-CL" noProof="0" dirty="0" err="1"/>
              <a:t>seudonimizado</a:t>
            </a:r>
            <a:r>
              <a:rPr lang="es-CL" noProof="0" dirty="0"/>
              <a:t> para aplicación y Machine </a:t>
            </a:r>
            <a:r>
              <a:rPr lang="es-CL" noProof="0" dirty="0" err="1"/>
              <a:t>Learning</a:t>
            </a:r>
            <a:r>
              <a:rPr lang="es-CL" noProof="0" dirty="0"/>
              <a:t>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Principio de mínimo privilegio: DBA, aplicación y modelo con permisos diferenciados.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Cifrado de información sensible y comunicaciones; claves fuera de la base de datos.</a:t>
            </a:r>
          </a:p>
          <a:p>
            <a:pPr>
              <a:spcAft>
                <a:spcPts val="800"/>
              </a:spcAft>
              <a:defRPr sz="1450">
                <a:solidFill>
                  <a:srgbClr val="191919"/>
                </a:solidFill>
                <a:latin typeface="Arial"/>
              </a:defRPr>
            </a:pPr>
            <a:r>
              <a:rPr lang="es-CL" noProof="0" dirty="0"/>
              <a:t>• Auditoría de accesos y modificaciones; respaldo y control de cambios.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51CA7A-4B0E-E95E-1873-808B6967E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392" y="1898963"/>
            <a:ext cx="6519706" cy="3164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TextBox 149"/>
          <p:cNvSpPr txBox="1"/>
          <p:nvPr/>
        </p:nvSpPr>
        <p:spPr>
          <a:xfrm>
            <a:off x="164592" y="310896"/>
            <a:ext cx="81381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100" b="1" noProof="0" dirty="0">
                <a:solidFill>
                  <a:srgbClr val="616161"/>
                </a:solidFill>
                <a:latin typeface="Arial"/>
              </a:rPr>
              <a:t>AVANCE 2 · PROYECTO APT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920" y="1024128"/>
            <a:ext cx="10881360" cy="56692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2600" b="1" noProof="0" dirty="0">
                <a:solidFill>
                  <a:srgbClr val="2A2631"/>
                </a:solidFill>
                <a:latin typeface="Arial"/>
              </a:rPr>
              <a:t>Estado actual y siguiente etapa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02920" y="1673352"/>
            <a:ext cx="914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3" name="Oval 152"/>
          <p:cNvSpPr/>
          <p:nvPr/>
        </p:nvSpPr>
        <p:spPr>
          <a:xfrm>
            <a:off x="685800" y="2331720"/>
            <a:ext cx="658368" cy="658368"/>
          </a:xfrm>
          <a:prstGeom prst="ellipse">
            <a:avLst/>
          </a:prstGeom>
          <a:solidFill>
            <a:srgbClr val="3F824C"/>
          </a:solidFill>
          <a:ln>
            <a:solidFill>
              <a:srgbClr val="3F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4" name="TextBox 153"/>
          <p:cNvSpPr txBox="1"/>
          <p:nvPr/>
        </p:nvSpPr>
        <p:spPr>
          <a:xfrm>
            <a:off x="685800" y="2450592"/>
            <a:ext cx="658368" cy="2286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300" b="1" noProof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46888" y="3127248"/>
            <a:ext cx="155448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500" b="1" noProof="0" dirty="0">
                <a:solidFill>
                  <a:srgbClr val="2A2631"/>
                </a:solidFill>
                <a:latin typeface="Arial"/>
              </a:rPr>
              <a:t>Requerimientos
y alcance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57200" y="4005072"/>
            <a:ext cx="109728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00" b="1" noProof="0" dirty="0">
                <a:solidFill>
                  <a:srgbClr val="3F824C"/>
                </a:solidFill>
                <a:latin typeface="Arial"/>
              </a:rPr>
              <a:t>COMPLETADO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344168" y="2660904"/>
            <a:ext cx="2176272" cy="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Oval 157"/>
          <p:cNvSpPr/>
          <p:nvPr/>
        </p:nvSpPr>
        <p:spPr>
          <a:xfrm>
            <a:off x="3520440" y="2331720"/>
            <a:ext cx="658368" cy="658368"/>
          </a:xfrm>
          <a:prstGeom prst="ellipse">
            <a:avLst/>
          </a:prstGeom>
          <a:solidFill>
            <a:srgbClr val="3F824C"/>
          </a:solidFill>
          <a:ln>
            <a:solidFill>
              <a:srgbClr val="3F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9" name="TextBox 158"/>
          <p:cNvSpPr txBox="1"/>
          <p:nvPr/>
        </p:nvSpPr>
        <p:spPr>
          <a:xfrm>
            <a:off x="3520440" y="2450592"/>
            <a:ext cx="658368" cy="2286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300" b="1" noProof="0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081528" y="3127248"/>
            <a:ext cx="155448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500" b="1" noProof="0" dirty="0">
                <a:solidFill>
                  <a:srgbClr val="2A2631"/>
                </a:solidFill>
                <a:latin typeface="Arial"/>
              </a:rPr>
              <a:t>Preparación
de datos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291840" y="4005072"/>
            <a:ext cx="109728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00" b="1" noProof="0" dirty="0">
                <a:solidFill>
                  <a:srgbClr val="3F824C"/>
                </a:solidFill>
                <a:latin typeface="Arial"/>
              </a:rPr>
              <a:t>COMPLETADO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4178808" y="2660904"/>
            <a:ext cx="2176272" cy="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6355080" y="2331720"/>
            <a:ext cx="658368" cy="658368"/>
          </a:xfrm>
          <a:prstGeom prst="ellipse">
            <a:avLst/>
          </a:prstGeom>
          <a:solidFill>
            <a:srgbClr val="3F824C"/>
          </a:solidFill>
          <a:ln>
            <a:solidFill>
              <a:srgbClr val="3F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4" name="TextBox 163"/>
          <p:cNvSpPr txBox="1"/>
          <p:nvPr/>
        </p:nvSpPr>
        <p:spPr>
          <a:xfrm>
            <a:off x="6355080" y="2450592"/>
            <a:ext cx="658368" cy="2286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300" b="1" noProof="0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916168" y="3127248"/>
            <a:ext cx="155448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500" b="1" noProof="0" dirty="0">
                <a:solidFill>
                  <a:srgbClr val="2A2631"/>
                </a:solidFill>
                <a:latin typeface="Arial"/>
              </a:rPr>
              <a:t>Modelo de datos
y seguridad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126480" y="4005072"/>
            <a:ext cx="109728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00" b="1" noProof="0" dirty="0">
                <a:solidFill>
                  <a:srgbClr val="3F824C"/>
                </a:solidFill>
                <a:latin typeface="Arial"/>
              </a:rPr>
              <a:t>COMPLETADO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7013448" y="2660904"/>
            <a:ext cx="2176272" cy="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89720" y="2331720"/>
            <a:ext cx="658368" cy="65836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9" name="TextBox 168"/>
          <p:cNvSpPr txBox="1"/>
          <p:nvPr/>
        </p:nvSpPr>
        <p:spPr>
          <a:xfrm>
            <a:off x="9189720" y="2450592"/>
            <a:ext cx="658368" cy="2286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300" b="1" noProof="0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750808" y="3127248"/>
            <a:ext cx="155448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500" b="1" noProof="0" dirty="0">
                <a:solidFill>
                  <a:srgbClr val="2A2631"/>
                </a:solidFill>
                <a:latin typeface="Arial"/>
              </a:rPr>
              <a:t>Modelo
predictivo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961120" y="4005072"/>
            <a:ext cx="109728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/>
            <a:r>
              <a:rPr lang="es-CL" sz="1000" b="1" noProof="0" dirty="0">
                <a:solidFill>
                  <a:srgbClr val="F5A623"/>
                </a:solidFill>
                <a:latin typeface="Arial"/>
              </a:rPr>
              <a:t>SIGUIENTE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874519" y="4709160"/>
            <a:ext cx="8458200" cy="1051560"/>
          </a:xfrm>
          <a:prstGeom prst="roundRect">
            <a:avLst/>
          </a:prstGeom>
          <a:solidFill>
            <a:srgbClr val="FFF6E7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3" name="Rectangle 172"/>
          <p:cNvSpPr/>
          <p:nvPr/>
        </p:nvSpPr>
        <p:spPr>
          <a:xfrm>
            <a:off x="1874519" y="470916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4" name="TextBox 173"/>
          <p:cNvSpPr txBox="1"/>
          <p:nvPr/>
        </p:nvSpPr>
        <p:spPr>
          <a:xfrm>
            <a:off x="2057400" y="4873752"/>
            <a:ext cx="809244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600" b="1" noProof="0" dirty="0">
                <a:solidFill>
                  <a:srgbClr val="2A2631"/>
                </a:solidFill>
                <a:latin typeface="Arial"/>
              </a:rPr>
              <a:t>Próximo paso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057400" y="5367528"/>
            <a:ext cx="8092440" cy="246887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/>
            <a:r>
              <a:rPr lang="es-CL" sz="1400" b="0" noProof="0" dirty="0">
                <a:solidFill>
                  <a:srgbClr val="191919"/>
                </a:solidFill>
                <a:latin typeface="Arial"/>
              </a:rPr>
              <a:t>Construir y evaluar el componente predictivo utilizando el conjunto de datos preparado, respetando el orden temporal y evitando fuga de información.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/>
            <a:r>
              <a:rPr lang="es-CL" sz="900" b="0" noProof="0" dirty="0">
                <a:solidFill>
                  <a:srgbClr val="61616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517</Words>
  <Application>Microsoft Office PowerPoint</Application>
  <PresentationFormat>Panorámica</PresentationFormat>
  <Paragraphs>69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LUIS MIGUEL TRUJILLO PALACIOS</cp:lastModifiedBy>
  <cp:revision>4</cp:revision>
  <dcterms:created xsi:type="dcterms:W3CDTF">2023-10-28T21:12:11Z</dcterms:created>
  <dcterms:modified xsi:type="dcterms:W3CDTF">2026-10-14T00:26:41Z</dcterms:modified>
</cp:coreProperties>
</file>